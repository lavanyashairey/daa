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covers merge sort, a divide-and-conquer sorting algorithm from the Design and Analysis of Algorithms course. It was generated using 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sort is a stable, comparison-based, divide-and-conquer sort. Its running time is the same for every input order, which makes it predictable. It was proposed by John von Neumann in 1945.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phases are divide, conquer and combine. All the real work happens in the combine step, which merges two sorted halves. A single element is trivially sorted, so it is the base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the array 38, 27, 43, 3, 9, 82, 10, 5. It is split in half again and again until every piece holds a single element. Eight elements need three levels of splitting.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sorted pieces are merged back. Pairs become sorted pairs, pairs become sorted groups of four, and the two fours merge into the final sorted array. Orange cells are sorted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pointers walk along the two sorted halves. At each step the smaller front element is copied to the output. When one half runs out, the rest of the other half is copied. Eight elements need at most seven comparisons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array is now sorted: 3, 5, 9, 10, 27, 38, 43, 82. Three levels, each doing about n work, gives roughly n log n steps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half-size subproblems plus a linear merge give the recurrence T of n equals 2 T of n over 2 plus order n. By the master theorem or a recursion tree, that is order n log n. The temporary arrays make the extra space order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MERGE-SORT recurses on the two halves, then calls MERGE. MERGE copies each half into a temporary array and walks both with two indices, writing the smaller item back into A. On equal items it takes the left one, which is what makes the sort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sort does the easy split and the hard merge. Quick sort does the hard partition and the easy join. Merge sort guarantees n log n and stability at the cost of extra memory; quick sort is usually faster in practice on arrays but can degrade to n squared.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divide, conquer, combine. The merge step does the work, there are log n levels, and the total cost is n log n. This presentation was generated using 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EF1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07"/>
            <a:ext cx="10566400" cy="4424693"/>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F1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07"/>
            <a:ext cx="10566400" cy="4424693"/>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pic>
        <p:nvPicPr>
          <p:cNvPr id="2" name="Image 0" descr="Two rows of eight bars: an unsorted row in dark blue above the same bars sorted in ascending order in orange">    </p:cNvPr>
          <p:cNvPicPr>
            <a:picLocks noChangeAspect="1"/>
          </p:cNvPicPr>
          <p:nvPr/>
        </p:nvPicPr>
        <p:blipFill>
          <a:blip r:embed="rId1"/>
          <a:srcRect l="0" r="0" t="0" b="0"/>
          <a:stretch/>
        </p:blipFill>
        <p:spPr>
          <a:xfrm>
            <a:off x="6985000" y="1524000"/>
            <a:ext cx="3810000" cy="3556000"/>
          </a:xfrm>
          <a:prstGeom prst="rect">
            <a:avLst/>
          </a:prstGeom>
        </p:spPr>
      </p:pic>
      <p:sp>
        <p:nvSpPr>
          <p:cNvPr id="3" name="Text 0"/>
          <p:cNvSpPr/>
          <p:nvPr/>
        </p:nvSpPr>
        <p:spPr>
          <a:xfrm>
            <a:off x="812800" y="2241550"/>
            <a:ext cx="10883392" cy="309827"/>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F2994A"/>
                </a:solidFill>
                <a:latin typeface="DM Sans" pitchFamily="34" charset="0"/>
                <a:ea typeface="DM Sans" pitchFamily="34" charset="-122"/>
                <a:cs typeface="DM Sans" pitchFamily="34" charset="-120"/>
              </a:rPr>
              <a:t>DESIGN AND ANALYSIS OF ALGORITHMS</a:t>
            </a:r>
            <a:endParaRPr lang="en-US" sz="1600" dirty="0"/>
          </a:p>
        </p:txBody>
      </p:sp>
      <p:sp>
        <p:nvSpPr>
          <p:cNvPr id="4" name="Text 1"/>
          <p:cNvSpPr/>
          <p:nvPr>
            <p:ph type="title"/>
          </p:nvPr>
        </p:nvSpPr>
        <p:spPr>
          <a:xfrm>
            <a:off x="812800" y="2779977"/>
            <a:ext cx="6278880" cy="718807"/>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BFBF8"/>
                </a:solidFill>
                <a:latin typeface="DM Sans" pitchFamily="34" charset="0"/>
                <a:ea typeface="DM Sans" pitchFamily="34" charset="-122"/>
                <a:cs typeface="DM Sans" pitchFamily="34" charset="-120"/>
              </a:rPr>
              <a:t>Merge Sort</a:t>
            </a:r>
            <a:endParaRPr lang="en-US" sz="5200" dirty="0"/>
          </a:p>
        </p:txBody>
      </p:sp>
      <p:sp>
        <p:nvSpPr>
          <p:cNvPr id="5" name="Text 2"/>
          <p:cNvSpPr/>
          <p:nvPr/>
        </p:nvSpPr>
        <p:spPr>
          <a:xfrm>
            <a:off x="812800" y="3727384"/>
            <a:ext cx="58864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9D3E3"/>
                </a:solidFill>
                <a:latin typeface="DM Sans" pitchFamily="34" charset="0"/>
                <a:ea typeface="DM Sans" pitchFamily="34" charset="-122"/>
                <a:cs typeface="DM Sans" pitchFamily="34" charset="-120"/>
              </a:rPr>
              <a:t>Divide the array, sort each half, then merge in O(n log 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What is merge sort?</a:t>
            </a:r>
            <a:endParaRPr lang="en-US" sz="3600" dirty="0"/>
          </a:p>
        </p:txBody>
      </p:sp>
      <p:sp>
        <p:nvSpPr>
          <p:cNvPr id="3" name="Shape 1"/>
          <p:cNvSpPr/>
          <p:nvPr/>
        </p:nvSpPr>
        <p:spPr>
          <a:xfrm>
            <a:off x="815975" y="1674482"/>
            <a:ext cx="3380317" cy="1800225"/>
          </a:xfrm>
          <a:prstGeom prst="roundRect">
            <a:avLst>
              <a:gd name="adj" fmla="val 5467"/>
            </a:avLst>
          </a:prstGeom>
          <a:solidFill>
            <a:srgbClr val="FFFFFF"/>
          </a:solidFill>
          <a:ln w="6350">
            <a:solidFill>
              <a:srgbClr val="E3E6E4"/>
            </a:solidFill>
            <a:prstDash val="solid"/>
          </a:ln>
        </p:spPr>
      </p:sp>
      <p:sp>
        <p:nvSpPr>
          <p:cNvPr id="4" name="Text 2"/>
          <p:cNvSpPr/>
          <p:nvPr/>
        </p:nvSpPr>
        <p:spPr>
          <a:xfrm>
            <a:off x="1071033" y="1929540"/>
            <a:ext cx="2956306"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DM Sans" pitchFamily="34" charset="0"/>
                <a:ea typeface="DM Sans" pitchFamily="34" charset="-122"/>
                <a:cs typeface="DM Sans" pitchFamily="34" charset="-120"/>
              </a:rPr>
              <a:t>Divide and conquer</a:t>
            </a:r>
            <a:endParaRPr lang="en-US" sz="2200" dirty="0"/>
          </a:p>
        </p:txBody>
      </p:sp>
      <p:sp>
        <p:nvSpPr>
          <p:cNvPr id="5" name="Text 3"/>
          <p:cNvSpPr/>
          <p:nvPr/>
        </p:nvSpPr>
        <p:spPr>
          <a:xfrm>
            <a:off x="1071033" y="2366367"/>
            <a:ext cx="2956306"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Splits the problem into halves, solves each half, then combines the results.</a:t>
            </a:r>
            <a:endParaRPr lang="en-US" sz="1600" dirty="0"/>
          </a:p>
        </p:txBody>
      </p:sp>
      <p:sp>
        <p:nvSpPr>
          <p:cNvPr id="6" name="Shape 4"/>
          <p:cNvSpPr/>
          <p:nvPr/>
        </p:nvSpPr>
        <p:spPr>
          <a:xfrm>
            <a:off x="4405842" y="1674482"/>
            <a:ext cx="3380317" cy="1800225"/>
          </a:xfrm>
          <a:prstGeom prst="roundRect">
            <a:avLst>
              <a:gd name="adj" fmla="val 5467"/>
            </a:avLst>
          </a:prstGeom>
          <a:solidFill>
            <a:srgbClr val="FFFFFF"/>
          </a:solidFill>
          <a:ln w="6350">
            <a:solidFill>
              <a:srgbClr val="E3E6E4"/>
            </a:solidFill>
            <a:prstDash val="solid"/>
          </a:ln>
        </p:spPr>
      </p:sp>
      <p:sp>
        <p:nvSpPr>
          <p:cNvPr id="7" name="Text 5"/>
          <p:cNvSpPr/>
          <p:nvPr/>
        </p:nvSpPr>
        <p:spPr>
          <a:xfrm>
            <a:off x="4660900" y="1929540"/>
            <a:ext cx="2956306"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DM Sans" pitchFamily="34" charset="0"/>
                <a:ea typeface="DM Sans" pitchFamily="34" charset="-122"/>
                <a:cs typeface="DM Sans" pitchFamily="34" charset="-120"/>
              </a:rPr>
              <a:t>Stable</a:t>
            </a:r>
            <a:endParaRPr lang="en-US" sz="2200" dirty="0"/>
          </a:p>
        </p:txBody>
      </p:sp>
      <p:sp>
        <p:nvSpPr>
          <p:cNvPr id="8" name="Text 6"/>
          <p:cNvSpPr/>
          <p:nvPr/>
        </p:nvSpPr>
        <p:spPr>
          <a:xfrm>
            <a:off x="4660900" y="2366367"/>
            <a:ext cx="2956306"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Equal elements keep their original order after sorting.</a:t>
            </a:r>
            <a:endParaRPr lang="en-US" sz="1600" dirty="0"/>
          </a:p>
        </p:txBody>
      </p:sp>
      <p:sp>
        <p:nvSpPr>
          <p:cNvPr id="9" name="Shape 7"/>
          <p:cNvSpPr/>
          <p:nvPr/>
        </p:nvSpPr>
        <p:spPr>
          <a:xfrm>
            <a:off x="7995709" y="1674482"/>
            <a:ext cx="3380317" cy="1800225"/>
          </a:xfrm>
          <a:prstGeom prst="roundRect">
            <a:avLst>
              <a:gd name="adj" fmla="val 5467"/>
            </a:avLst>
          </a:prstGeom>
          <a:solidFill>
            <a:srgbClr val="FFFFFF"/>
          </a:solidFill>
          <a:ln w="6350">
            <a:solidFill>
              <a:srgbClr val="E3E6E4"/>
            </a:solidFill>
            <a:prstDash val="solid"/>
          </a:ln>
        </p:spPr>
      </p:sp>
      <p:sp>
        <p:nvSpPr>
          <p:cNvPr id="10" name="Text 8"/>
          <p:cNvSpPr/>
          <p:nvPr/>
        </p:nvSpPr>
        <p:spPr>
          <a:xfrm>
            <a:off x="8250767" y="1929540"/>
            <a:ext cx="2956306"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DM Sans" pitchFamily="34" charset="0"/>
                <a:ea typeface="DM Sans" pitchFamily="34" charset="-122"/>
                <a:cs typeface="DM Sans" pitchFamily="34" charset="-120"/>
              </a:rPr>
              <a:t>Predictable</a:t>
            </a:r>
            <a:endParaRPr lang="en-US" sz="2200" dirty="0"/>
          </a:p>
        </p:txBody>
      </p:sp>
      <p:sp>
        <p:nvSpPr>
          <p:cNvPr id="11" name="Text 9"/>
          <p:cNvSpPr/>
          <p:nvPr/>
        </p:nvSpPr>
        <p:spPr>
          <a:xfrm>
            <a:off x="8250767" y="2366367"/>
            <a:ext cx="2956306"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Runs in O(n log n) time in the best, average and worst case.</a:t>
            </a:r>
            <a:endParaRPr lang="en-US" sz="1600" dirty="0"/>
          </a:p>
        </p:txBody>
      </p:sp>
      <p:sp>
        <p:nvSpPr>
          <p:cNvPr id="12" name="Text 10"/>
          <p:cNvSpPr/>
          <p:nvPr/>
        </p:nvSpPr>
        <p:spPr>
          <a:xfrm>
            <a:off x="812800" y="3833482"/>
            <a:ext cx="10566400" cy="1125141"/>
          </a:xfrm>
          <a:prstGeom prst="roundRect">
            <a:avLst>
              <a:gd name="adj" fmla="val 9030"/>
            </a:avLst>
          </a:prstGeom>
          <a:solidFill>
            <a:srgbClr val="14213D"/>
          </a:solidFill>
          <a:ln/>
        </p:spPr>
        <p:txBody>
          <a:bodyPr wrap="square" lIns="275042" tIns="224242" rIns="0" bIns="198842" rtlCol="0" anchor="t">
            <a:normAutofit/>
          </a:bodyPr>
          <a:lstStyle/>
          <a:p>
            <a:pPr algn="l" indent="0" marL="0">
              <a:lnSpc>
                <a:spcPts val="2430"/>
              </a:lnSpc>
              <a:buNone/>
            </a:pPr>
            <a:r>
              <a:rPr lang="en-US" sz="1800" dirty="0">
                <a:solidFill>
                  <a:srgbClr val="FBFBF8"/>
                </a:solidFill>
                <a:latin typeface="DM Sans" pitchFamily="34" charset="0"/>
                <a:ea typeface="DM Sans" pitchFamily="34" charset="-122"/>
                <a:cs typeface="DM Sans" pitchFamily="34" charset="-120"/>
              </a:rPr>
              <a:t>Input: an array of n comparable items. Output: the same items in ascending order. Invented by John von Neumann in 1945.</a:t>
            </a:r>
            <a:endParaRPr lang="en-US" sz="18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Generated using Claude · Merge Sort · DAA</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1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Divide, conquer, combine</a:t>
            </a:r>
            <a:endParaRPr lang="en-US" sz="3600" dirty="0"/>
          </a:p>
        </p:txBody>
      </p:sp>
      <p:sp>
        <p:nvSpPr>
          <p:cNvPr id="3" name="Shape 1"/>
          <p:cNvSpPr/>
          <p:nvPr/>
        </p:nvSpPr>
        <p:spPr>
          <a:xfrm>
            <a:off x="815975" y="1674482"/>
            <a:ext cx="3380317" cy="2404732"/>
          </a:xfrm>
          <a:prstGeom prst="roundRect">
            <a:avLst>
              <a:gd name="adj" fmla="val 4093"/>
            </a:avLst>
          </a:prstGeom>
          <a:solidFill>
            <a:srgbClr val="FFFFFF"/>
          </a:solidFill>
          <a:ln w="6350">
            <a:solidFill>
              <a:srgbClr val="D9DEE4"/>
            </a:solidFill>
            <a:prstDash val="solid"/>
          </a:ln>
        </p:spPr>
      </p:sp>
      <p:sp>
        <p:nvSpPr>
          <p:cNvPr id="4" name="Text 2"/>
          <p:cNvSpPr/>
          <p:nvPr/>
        </p:nvSpPr>
        <p:spPr>
          <a:xfrm>
            <a:off x="1071033" y="1929541"/>
            <a:ext cx="2956306"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4530F"/>
                </a:solidFill>
                <a:latin typeface="DM Sans" pitchFamily="34" charset="0"/>
                <a:ea typeface="DM Sans" pitchFamily="34" charset="-122"/>
                <a:cs typeface="DM Sans" pitchFamily="34" charset="-120"/>
              </a:rPr>
              <a:t>01</a:t>
            </a:r>
            <a:endParaRPr lang="en-US" sz="3600" dirty="0"/>
          </a:p>
        </p:txBody>
      </p:sp>
      <p:sp>
        <p:nvSpPr>
          <p:cNvPr id="5" name="Text 3"/>
          <p:cNvSpPr/>
          <p:nvPr/>
        </p:nvSpPr>
        <p:spPr>
          <a:xfrm>
            <a:off x="1071033" y="2534047"/>
            <a:ext cx="2956306"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DM Sans" pitchFamily="34" charset="0"/>
                <a:ea typeface="DM Sans" pitchFamily="34" charset="-122"/>
                <a:cs typeface="DM Sans" pitchFamily="34" charset="-120"/>
              </a:rPr>
              <a:t>Divide</a:t>
            </a:r>
            <a:endParaRPr lang="en-US" sz="2200" dirty="0"/>
          </a:p>
        </p:txBody>
      </p:sp>
      <p:sp>
        <p:nvSpPr>
          <p:cNvPr id="6" name="Text 4"/>
          <p:cNvSpPr/>
          <p:nvPr/>
        </p:nvSpPr>
        <p:spPr>
          <a:xfrm>
            <a:off x="1071033" y="2970874"/>
            <a:ext cx="2956306"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Split the array into a left half and a right half at the middle index.</a:t>
            </a:r>
            <a:endParaRPr lang="en-US" sz="1600" dirty="0"/>
          </a:p>
        </p:txBody>
      </p:sp>
      <p:sp>
        <p:nvSpPr>
          <p:cNvPr id="7" name="Shape 5"/>
          <p:cNvSpPr/>
          <p:nvPr/>
        </p:nvSpPr>
        <p:spPr>
          <a:xfrm>
            <a:off x="4405842" y="1674482"/>
            <a:ext cx="3380317" cy="2404732"/>
          </a:xfrm>
          <a:prstGeom prst="roundRect">
            <a:avLst>
              <a:gd name="adj" fmla="val 4093"/>
            </a:avLst>
          </a:prstGeom>
          <a:solidFill>
            <a:srgbClr val="FFFFFF"/>
          </a:solidFill>
          <a:ln w="6350">
            <a:solidFill>
              <a:srgbClr val="D9DEE4"/>
            </a:solidFill>
            <a:prstDash val="solid"/>
          </a:ln>
        </p:spPr>
      </p:sp>
      <p:sp>
        <p:nvSpPr>
          <p:cNvPr id="8" name="Text 6"/>
          <p:cNvSpPr/>
          <p:nvPr/>
        </p:nvSpPr>
        <p:spPr>
          <a:xfrm>
            <a:off x="4660900" y="1929541"/>
            <a:ext cx="2956306"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4530F"/>
                </a:solidFill>
                <a:latin typeface="DM Sans" pitchFamily="34" charset="0"/>
                <a:ea typeface="DM Sans" pitchFamily="34" charset="-122"/>
                <a:cs typeface="DM Sans" pitchFamily="34" charset="-120"/>
              </a:rPr>
              <a:t>02</a:t>
            </a:r>
            <a:endParaRPr lang="en-US" sz="3600" dirty="0"/>
          </a:p>
        </p:txBody>
      </p:sp>
      <p:sp>
        <p:nvSpPr>
          <p:cNvPr id="9" name="Text 7"/>
          <p:cNvSpPr/>
          <p:nvPr/>
        </p:nvSpPr>
        <p:spPr>
          <a:xfrm>
            <a:off x="4660900" y="2534047"/>
            <a:ext cx="2956306"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DM Sans" pitchFamily="34" charset="0"/>
                <a:ea typeface="DM Sans" pitchFamily="34" charset="-122"/>
                <a:cs typeface="DM Sans" pitchFamily="34" charset="-120"/>
              </a:rPr>
              <a:t>Conquer</a:t>
            </a:r>
            <a:endParaRPr lang="en-US" sz="2200" dirty="0"/>
          </a:p>
        </p:txBody>
      </p:sp>
      <p:sp>
        <p:nvSpPr>
          <p:cNvPr id="10" name="Text 8"/>
          <p:cNvSpPr/>
          <p:nvPr/>
        </p:nvSpPr>
        <p:spPr>
          <a:xfrm>
            <a:off x="4660900" y="2970874"/>
            <a:ext cx="2956306"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Sort each half by calling merge sort on it recursively.</a:t>
            </a:r>
            <a:endParaRPr lang="en-US" sz="1600" dirty="0"/>
          </a:p>
        </p:txBody>
      </p:sp>
      <p:sp>
        <p:nvSpPr>
          <p:cNvPr id="11" name="Shape 9"/>
          <p:cNvSpPr/>
          <p:nvPr/>
        </p:nvSpPr>
        <p:spPr>
          <a:xfrm>
            <a:off x="7995709" y="1674482"/>
            <a:ext cx="3380317" cy="2404732"/>
          </a:xfrm>
          <a:prstGeom prst="roundRect">
            <a:avLst>
              <a:gd name="adj" fmla="val 4093"/>
            </a:avLst>
          </a:prstGeom>
          <a:solidFill>
            <a:srgbClr val="FFFFFF"/>
          </a:solidFill>
          <a:ln w="6350">
            <a:solidFill>
              <a:srgbClr val="D9DEE4"/>
            </a:solidFill>
            <a:prstDash val="solid"/>
          </a:ln>
        </p:spPr>
      </p:sp>
      <p:sp>
        <p:nvSpPr>
          <p:cNvPr id="12" name="Text 10"/>
          <p:cNvSpPr/>
          <p:nvPr/>
        </p:nvSpPr>
        <p:spPr>
          <a:xfrm>
            <a:off x="8250767" y="1929541"/>
            <a:ext cx="2956306"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4530F"/>
                </a:solidFill>
                <a:latin typeface="DM Sans" pitchFamily="34" charset="0"/>
                <a:ea typeface="DM Sans" pitchFamily="34" charset="-122"/>
                <a:cs typeface="DM Sans" pitchFamily="34" charset="-120"/>
              </a:rPr>
              <a:t>03</a:t>
            </a:r>
            <a:endParaRPr lang="en-US" sz="3600" dirty="0"/>
          </a:p>
        </p:txBody>
      </p:sp>
      <p:sp>
        <p:nvSpPr>
          <p:cNvPr id="13" name="Text 11"/>
          <p:cNvSpPr/>
          <p:nvPr/>
        </p:nvSpPr>
        <p:spPr>
          <a:xfrm>
            <a:off x="8250767" y="2534047"/>
            <a:ext cx="2956306"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DM Sans" pitchFamily="34" charset="0"/>
                <a:ea typeface="DM Sans" pitchFamily="34" charset="-122"/>
                <a:cs typeface="DM Sans" pitchFamily="34" charset="-120"/>
              </a:rPr>
              <a:t>Combine</a:t>
            </a:r>
            <a:endParaRPr lang="en-US" sz="2200" dirty="0"/>
          </a:p>
        </p:txBody>
      </p:sp>
      <p:sp>
        <p:nvSpPr>
          <p:cNvPr id="14" name="Text 12"/>
          <p:cNvSpPr/>
          <p:nvPr/>
        </p:nvSpPr>
        <p:spPr>
          <a:xfrm>
            <a:off x="8250767" y="2970874"/>
            <a:ext cx="2956306"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Merge the two sorted halves into one sorted array.</a:t>
            </a:r>
            <a:endParaRPr lang="en-US" sz="1600" dirty="0"/>
          </a:p>
        </p:txBody>
      </p:sp>
      <p:sp>
        <p:nvSpPr>
          <p:cNvPr id="15" name="Text 13"/>
          <p:cNvSpPr/>
          <p:nvPr/>
        </p:nvSpPr>
        <p:spPr>
          <a:xfrm>
            <a:off x="812800" y="4437990"/>
            <a:ext cx="10566400" cy="816570"/>
          </a:xfrm>
          <a:prstGeom prst="roundRect">
            <a:avLst>
              <a:gd name="adj" fmla="val 12442"/>
            </a:avLst>
          </a:prstGeom>
          <a:solidFill>
            <a:srgbClr val="14213D"/>
          </a:solidFill>
          <a:ln/>
        </p:spPr>
        <p:txBody>
          <a:bodyPr wrap="square" lIns="275042" tIns="224242" rIns="0" bIns="198842" rtlCol="0" anchor="t">
            <a:normAutofit/>
          </a:bodyPr>
          <a:lstStyle/>
          <a:p>
            <a:pPr algn="l" indent="0" marL="0">
              <a:lnSpc>
                <a:spcPts val="2430"/>
              </a:lnSpc>
              <a:buNone/>
            </a:pPr>
            <a:r>
              <a:rPr lang="en-US" sz="1800" dirty="0">
                <a:solidFill>
                  <a:srgbClr val="FBFBF8"/>
                </a:solidFill>
                <a:latin typeface="DM Sans" pitchFamily="34" charset="0"/>
                <a:ea typeface="DM Sans" pitchFamily="34" charset="-122"/>
                <a:cs typeface="DM Sans" pitchFamily="34" charset="-120"/>
              </a:rPr>
              <a:t>Base case: an array with 0 or 1 elements is already sorted, so the recursion stops.</a:t>
            </a:r>
            <a:endParaRPr lang="en-US" sz="18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Generated using Claude · Merge Sort · DAA</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Example: splitting the array</a:t>
            </a:r>
            <a:endParaRPr lang="en-US" sz="3600" dirty="0"/>
          </a:p>
        </p:txBody>
      </p:sp>
      <p:sp>
        <p:nvSpPr>
          <p:cNvPr id="3" name="Text 1"/>
          <p:cNvSpPr/>
          <p:nvPr/>
        </p:nvSpPr>
        <p:spPr>
          <a:xfrm>
            <a:off x="812800" y="1699220"/>
            <a:ext cx="13208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Whole array</a:t>
            </a:r>
            <a:endParaRPr lang="en-US" sz="1400" dirty="0"/>
          </a:p>
        </p:txBody>
      </p:sp>
      <p:sp>
        <p:nvSpPr>
          <p:cNvPr id="4" name="Text 2"/>
          <p:cNvSpPr/>
          <p:nvPr/>
        </p:nvSpPr>
        <p:spPr>
          <a:xfrm>
            <a:off x="2241550" y="16268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38</a:t>
            </a:r>
            <a:endParaRPr lang="en-US" sz="1600" dirty="0"/>
          </a:p>
        </p:txBody>
      </p:sp>
      <p:sp>
        <p:nvSpPr>
          <p:cNvPr id="5" name="Text 3"/>
          <p:cNvSpPr/>
          <p:nvPr/>
        </p:nvSpPr>
        <p:spPr>
          <a:xfrm>
            <a:off x="2762250" y="16268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27</a:t>
            </a:r>
            <a:endParaRPr lang="en-US" sz="1600" dirty="0"/>
          </a:p>
        </p:txBody>
      </p:sp>
      <p:sp>
        <p:nvSpPr>
          <p:cNvPr id="6" name="Text 4"/>
          <p:cNvSpPr/>
          <p:nvPr/>
        </p:nvSpPr>
        <p:spPr>
          <a:xfrm>
            <a:off x="3282950" y="16268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43</a:t>
            </a:r>
            <a:endParaRPr lang="en-US" sz="1600" dirty="0"/>
          </a:p>
        </p:txBody>
      </p:sp>
      <p:sp>
        <p:nvSpPr>
          <p:cNvPr id="7" name="Text 5"/>
          <p:cNvSpPr/>
          <p:nvPr/>
        </p:nvSpPr>
        <p:spPr>
          <a:xfrm>
            <a:off x="3803650" y="16268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3</a:t>
            </a:r>
            <a:endParaRPr lang="en-US" sz="1600" dirty="0"/>
          </a:p>
        </p:txBody>
      </p:sp>
      <p:sp>
        <p:nvSpPr>
          <p:cNvPr id="8" name="Text 6"/>
          <p:cNvSpPr/>
          <p:nvPr/>
        </p:nvSpPr>
        <p:spPr>
          <a:xfrm>
            <a:off x="4324350" y="16268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9</a:t>
            </a:r>
            <a:endParaRPr lang="en-US" sz="1600" dirty="0"/>
          </a:p>
        </p:txBody>
      </p:sp>
      <p:sp>
        <p:nvSpPr>
          <p:cNvPr id="9" name="Text 7"/>
          <p:cNvSpPr/>
          <p:nvPr/>
        </p:nvSpPr>
        <p:spPr>
          <a:xfrm>
            <a:off x="4845050" y="16268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82</a:t>
            </a:r>
            <a:endParaRPr lang="en-US" sz="1600" dirty="0"/>
          </a:p>
        </p:txBody>
      </p:sp>
      <p:sp>
        <p:nvSpPr>
          <p:cNvPr id="10" name="Text 8"/>
          <p:cNvSpPr/>
          <p:nvPr/>
        </p:nvSpPr>
        <p:spPr>
          <a:xfrm>
            <a:off x="5365750" y="16268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10</a:t>
            </a:r>
            <a:endParaRPr lang="en-US" sz="1600" dirty="0"/>
          </a:p>
        </p:txBody>
      </p:sp>
      <p:sp>
        <p:nvSpPr>
          <p:cNvPr id="11" name="Text 9"/>
          <p:cNvSpPr/>
          <p:nvPr/>
        </p:nvSpPr>
        <p:spPr>
          <a:xfrm>
            <a:off x="5886450" y="16268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5</a:t>
            </a:r>
            <a:endParaRPr lang="en-US" sz="1600" dirty="0"/>
          </a:p>
        </p:txBody>
      </p:sp>
      <p:sp>
        <p:nvSpPr>
          <p:cNvPr id="12" name="Text 10"/>
          <p:cNvSpPr/>
          <p:nvPr/>
        </p:nvSpPr>
        <p:spPr>
          <a:xfrm>
            <a:off x="812800" y="2308820"/>
            <a:ext cx="13208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Halves</a:t>
            </a:r>
            <a:endParaRPr lang="en-US" sz="1400" dirty="0"/>
          </a:p>
        </p:txBody>
      </p:sp>
      <p:sp>
        <p:nvSpPr>
          <p:cNvPr id="13" name="Text 11"/>
          <p:cNvSpPr/>
          <p:nvPr/>
        </p:nvSpPr>
        <p:spPr>
          <a:xfrm>
            <a:off x="2241550" y="22364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38</a:t>
            </a:r>
            <a:endParaRPr lang="en-US" sz="1600" dirty="0"/>
          </a:p>
        </p:txBody>
      </p:sp>
      <p:sp>
        <p:nvSpPr>
          <p:cNvPr id="14" name="Text 12"/>
          <p:cNvSpPr/>
          <p:nvPr/>
        </p:nvSpPr>
        <p:spPr>
          <a:xfrm>
            <a:off x="2762250" y="22364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27</a:t>
            </a:r>
            <a:endParaRPr lang="en-US" sz="1600" dirty="0"/>
          </a:p>
        </p:txBody>
      </p:sp>
      <p:sp>
        <p:nvSpPr>
          <p:cNvPr id="15" name="Text 13"/>
          <p:cNvSpPr/>
          <p:nvPr/>
        </p:nvSpPr>
        <p:spPr>
          <a:xfrm>
            <a:off x="3282950" y="22364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43</a:t>
            </a:r>
            <a:endParaRPr lang="en-US" sz="1600" dirty="0"/>
          </a:p>
        </p:txBody>
      </p:sp>
      <p:sp>
        <p:nvSpPr>
          <p:cNvPr id="16" name="Text 14"/>
          <p:cNvSpPr/>
          <p:nvPr/>
        </p:nvSpPr>
        <p:spPr>
          <a:xfrm>
            <a:off x="3803650" y="22364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3</a:t>
            </a:r>
            <a:endParaRPr lang="en-US" sz="1600" dirty="0"/>
          </a:p>
        </p:txBody>
      </p:sp>
      <p:sp>
        <p:nvSpPr>
          <p:cNvPr id="17" name="Text 15"/>
          <p:cNvSpPr/>
          <p:nvPr/>
        </p:nvSpPr>
        <p:spPr>
          <a:xfrm>
            <a:off x="4476750" y="22364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9</a:t>
            </a:r>
            <a:endParaRPr lang="en-US" sz="1600" dirty="0"/>
          </a:p>
        </p:txBody>
      </p:sp>
      <p:sp>
        <p:nvSpPr>
          <p:cNvPr id="18" name="Text 16"/>
          <p:cNvSpPr/>
          <p:nvPr/>
        </p:nvSpPr>
        <p:spPr>
          <a:xfrm>
            <a:off x="4997450" y="22364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82</a:t>
            </a:r>
            <a:endParaRPr lang="en-US" sz="1600" dirty="0"/>
          </a:p>
        </p:txBody>
      </p:sp>
      <p:sp>
        <p:nvSpPr>
          <p:cNvPr id="19" name="Text 17"/>
          <p:cNvSpPr/>
          <p:nvPr/>
        </p:nvSpPr>
        <p:spPr>
          <a:xfrm>
            <a:off x="5518150" y="22364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10</a:t>
            </a:r>
            <a:endParaRPr lang="en-US" sz="1600" dirty="0"/>
          </a:p>
        </p:txBody>
      </p:sp>
      <p:sp>
        <p:nvSpPr>
          <p:cNvPr id="20" name="Text 18"/>
          <p:cNvSpPr/>
          <p:nvPr/>
        </p:nvSpPr>
        <p:spPr>
          <a:xfrm>
            <a:off x="6038850" y="22364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5</a:t>
            </a:r>
            <a:endParaRPr lang="en-US" sz="1600" dirty="0"/>
          </a:p>
        </p:txBody>
      </p:sp>
      <p:sp>
        <p:nvSpPr>
          <p:cNvPr id="21" name="Text 19"/>
          <p:cNvSpPr/>
          <p:nvPr/>
        </p:nvSpPr>
        <p:spPr>
          <a:xfrm>
            <a:off x="812800" y="2918420"/>
            <a:ext cx="13208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Quarters</a:t>
            </a:r>
            <a:endParaRPr lang="en-US" sz="1400" dirty="0"/>
          </a:p>
        </p:txBody>
      </p:sp>
      <p:sp>
        <p:nvSpPr>
          <p:cNvPr id="22" name="Text 20"/>
          <p:cNvSpPr/>
          <p:nvPr/>
        </p:nvSpPr>
        <p:spPr>
          <a:xfrm>
            <a:off x="2241550" y="28460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38</a:t>
            </a:r>
            <a:endParaRPr lang="en-US" sz="1600" dirty="0"/>
          </a:p>
        </p:txBody>
      </p:sp>
      <p:sp>
        <p:nvSpPr>
          <p:cNvPr id="23" name="Text 21"/>
          <p:cNvSpPr/>
          <p:nvPr/>
        </p:nvSpPr>
        <p:spPr>
          <a:xfrm>
            <a:off x="2762250" y="28460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27</a:t>
            </a:r>
            <a:endParaRPr lang="en-US" sz="1600" dirty="0"/>
          </a:p>
        </p:txBody>
      </p:sp>
      <p:sp>
        <p:nvSpPr>
          <p:cNvPr id="24" name="Text 22"/>
          <p:cNvSpPr/>
          <p:nvPr/>
        </p:nvSpPr>
        <p:spPr>
          <a:xfrm>
            <a:off x="3435350" y="28460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43</a:t>
            </a:r>
            <a:endParaRPr lang="en-US" sz="1600" dirty="0"/>
          </a:p>
        </p:txBody>
      </p:sp>
      <p:sp>
        <p:nvSpPr>
          <p:cNvPr id="25" name="Text 23"/>
          <p:cNvSpPr/>
          <p:nvPr/>
        </p:nvSpPr>
        <p:spPr>
          <a:xfrm>
            <a:off x="3956050" y="28460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3</a:t>
            </a:r>
            <a:endParaRPr lang="en-US" sz="1600" dirty="0"/>
          </a:p>
        </p:txBody>
      </p:sp>
      <p:sp>
        <p:nvSpPr>
          <p:cNvPr id="26" name="Text 24"/>
          <p:cNvSpPr/>
          <p:nvPr/>
        </p:nvSpPr>
        <p:spPr>
          <a:xfrm>
            <a:off x="4629150" y="28460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9</a:t>
            </a:r>
            <a:endParaRPr lang="en-US" sz="1600" dirty="0"/>
          </a:p>
        </p:txBody>
      </p:sp>
      <p:sp>
        <p:nvSpPr>
          <p:cNvPr id="27" name="Text 25"/>
          <p:cNvSpPr/>
          <p:nvPr/>
        </p:nvSpPr>
        <p:spPr>
          <a:xfrm>
            <a:off x="5149850" y="28460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82</a:t>
            </a:r>
            <a:endParaRPr lang="en-US" sz="1600" dirty="0"/>
          </a:p>
        </p:txBody>
      </p:sp>
      <p:sp>
        <p:nvSpPr>
          <p:cNvPr id="28" name="Text 26"/>
          <p:cNvSpPr/>
          <p:nvPr/>
        </p:nvSpPr>
        <p:spPr>
          <a:xfrm>
            <a:off x="5822950" y="28460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10</a:t>
            </a:r>
            <a:endParaRPr lang="en-US" sz="1600" dirty="0"/>
          </a:p>
        </p:txBody>
      </p:sp>
      <p:sp>
        <p:nvSpPr>
          <p:cNvPr id="29" name="Text 27"/>
          <p:cNvSpPr/>
          <p:nvPr/>
        </p:nvSpPr>
        <p:spPr>
          <a:xfrm>
            <a:off x="6343650" y="28460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5</a:t>
            </a:r>
            <a:endParaRPr lang="en-US" sz="1600" dirty="0"/>
          </a:p>
        </p:txBody>
      </p:sp>
      <p:sp>
        <p:nvSpPr>
          <p:cNvPr id="30" name="Text 28"/>
          <p:cNvSpPr/>
          <p:nvPr/>
        </p:nvSpPr>
        <p:spPr>
          <a:xfrm>
            <a:off x="812800" y="3528020"/>
            <a:ext cx="13208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Single items</a:t>
            </a:r>
            <a:endParaRPr lang="en-US" sz="1400" dirty="0"/>
          </a:p>
        </p:txBody>
      </p:sp>
      <p:sp>
        <p:nvSpPr>
          <p:cNvPr id="31" name="Text 29"/>
          <p:cNvSpPr/>
          <p:nvPr/>
        </p:nvSpPr>
        <p:spPr>
          <a:xfrm>
            <a:off x="2241550" y="34556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38</a:t>
            </a:r>
            <a:endParaRPr lang="en-US" sz="1600" dirty="0"/>
          </a:p>
        </p:txBody>
      </p:sp>
      <p:sp>
        <p:nvSpPr>
          <p:cNvPr id="32" name="Text 30"/>
          <p:cNvSpPr/>
          <p:nvPr/>
        </p:nvSpPr>
        <p:spPr>
          <a:xfrm>
            <a:off x="2914650" y="34556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27</a:t>
            </a:r>
            <a:endParaRPr lang="en-US" sz="1600" dirty="0"/>
          </a:p>
        </p:txBody>
      </p:sp>
      <p:sp>
        <p:nvSpPr>
          <p:cNvPr id="33" name="Text 31"/>
          <p:cNvSpPr/>
          <p:nvPr/>
        </p:nvSpPr>
        <p:spPr>
          <a:xfrm>
            <a:off x="3587750" y="34556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43</a:t>
            </a:r>
            <a:endParaRPr lang="en-US" sz="1600" dirty="0"/>
          </a:p>
        </p:txBody>
      </p:sp>
      <p:sp>
        <p:nvSpPr>
          <p:cNvPr id="34" name="Text 32"/>
          <p:cNvSpPr/>
          <p:nvPr/>
        </p:nvSpPr>
        <p:spPr>
          <a:xfrm>
            <a:off x="4260850" y="34556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3</a:t>
            </a:r>
            <a:endParaRPr lang="en-US" sz="1600" dirty="0"/>
          </a:p>
        </p:txBody>
      </p:sp>
      <p:sp>
        <p:nvSpPr>
          <p:cNvPr id="35" name="Text 33"/>
          <p:cNvSpPr/>
          <p:nvPr/>
        </p:nvSpPr>
        <p:spPr>
          <a:xfrm>
            <a:off x="4933950" y="34556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9</a:t>
            </a:r>
            <a:endParaRPr lang="en-US" sz="1600" dirty="0"/>
          </a:p>
        </p:txBody>
      </p:sp>
      <p:sp>
        <p:nvSpPr>
          <p:cNvPr id="36" name="Text 34"/>
          <p:cNvSpPr/>
          <p:nvPr/>
        </p:nvSpPr>
        <p:spPr>
          <a:xfrm>
            <a:off x="5607050" y="34556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82</a:t>
            </a:r>
            <a:endParaRPr lang="en-US" sz="1600" dirty="0"/>
          </a:p>
        </p:txBody>
      </p:sp>
      <p:sp>
        <p:nvSpPr>
          <p:cNvPr id="37" name="Text 35"/>
          <p:cNvSpPr/>
          <p:nvPr/>
        </p:nvSpPr>
        <p:spPr>
          <a:xfrm>
            <a:off x="6280150" y="34556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10</a:t>
            </a:r>
            <a:endParaRPr lang="en-US" sz="1600" dirty="0"/>
          </a:p>
        </p:txBody>
      </p:sp>
      <p:sp>
        <p:nvSpPr>
          <p:cNvPr id="38" name="Text 36"/>
          <p:cNvSpPr/>
          <p:nvPr/>
        </p:nvSpPr>
        <p:spPr>
          <a:xfrm>
            <a:off x="6953250" y="3455657"/>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5</a:t>
            </a:r>
            <a:endParaRPr lang="en-US" sz="1600" dirty="0"/>
          </a:p>
        </p:txBody>
      </p:sp>
      <p:sp>
        <p:nvSpPr>
          <p:cNvPr id="39" name="Shape 37"/>
          <p:cNvSpPr/>
          <p:nvPr/>
        </p:nvSpPr>
        <p:spPr>
          <a:xfrm>
            <a:off x="7785100" y="1620507"/>
            <a:ext cx="3594100" cy="1798108"/>
          </a:xfrm>
          <a:prstGeom prst="roundRect">
            <a:avLst>
              <a:gd name="adj" fmla="val 5650"/>
            </a:avLst>
          </a:prstGeom>
          <a:solidFill>
            <a:srgbClr val="14213D"/>
          </a:solidFill>
          <a:ln/>
        </p:spPr>
      </p:sp>
      <p:sp>
        <p:nvSpPr>
          <p:cNvPr id="40" name="Text 38"/>
          <p:cNvSpPr/>
          <p:nvPr/>
        </p:nvSpPr>
        <p:spPr>
          <a:xfrm>
            <a:off x="8039100" y="1874507"/>
            <a:ext cx="3178683"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994A"/>
                </a:solidFill>
                <a:latin typeface="DM Sans" pitchFamily="34" charset="0"/>
                <a:ea typeface="DM Sans" pitchFamily="34" charset="-122"/>
                <a:cs typeface="DM Sans" pitchFamily="34" charset="-120"/>
              </a:rPr>
              <a:t>3 levels</a:t>
            </a:r>
            <a:endParaRPr lang="en-US" sz="2200" dirty="0"/>
          </a:p>
        </p:txBody>
      </p:sp>
      <p:sp>
        <p:nvSpPr>
          <p:cNvPr id="41" name="Text 39"/>
          <p:cNvSpPr/>
          <p:nvPr/>
        </p:nvSpPr>
        <p:spPr>
          <a:xfrm>
            <a:off x="8039100" y="2311335"/>
            <a:ext cx="3178683"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EDF5"/>
                </a:solidFill>
                <a:latin typeface="DM Sans" pitchFamily="34" charset="0"/>
                <a:ea typeface="DM Sans" pitchFamily="34" charset="-122"/>
                <a:cs typeface="DM Sans" pitchFamily="34" charset="-120"/>
              </a:rPr>
              <a:t>Each split halves the array: 8, 4, 2, then 1. That is log₂ 8 = 3 levels of splitting.</a:t>
            </a:r>
            <a:endParaRPr lang="en-US" sz="1600" dirty="0"/>
          </a:p>
        </p:txBody>
      </p:sp>
      <p:sp>
        <p:nvSpPr>
          <p:cNvPr id="42" name="Text 4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Generated using Claude · Merge Sort · DAA</a:t>
            </a:r>
            <a:endParaRPr lang="en-US" sz="1200" dirty="0"/>
          </a:p>
        </p:txBody>
      </p:sp>
      <p:sp>
        <p:nvSpPr>
          <p:cNvPr id="43" name="Text 4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1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Example: merging back up</a:t>
            </a:r>
            <a:endParaRPr lang="en-US" sz="3600" dirty="0"/>
          </a:p>
        </p:txBody>
      </p:sp>
      <p:sp>
        <p:nvSpPr>
          <p:cNvPr id="3" name="Text 1"/>
          <p:cNvSpPr/>
          <p:nvPr/>
        </p:nvSpPr>
        <p:spPr>
          <a:xfrm>
            <a:off x="812800" y="1699220"/>
            <a:ext cx="13208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Single items</a:t>
            </a:r>
            <a:endParaRPr lang="en-US" sz="1400" dirty="0"/>
          </a:p>
        </p:txBody>
      </p:sp>
      <p:sp>
        <p:nvSpPr>
          <p:cNvPr id="4" name="Text 2"/>
          <p:cNvSpPr/>
          <p:nvPr/>
        </p:nvSpPr>
        <p:spPr>
          <a:xfrm>
            <a:off x="2241550" y="1626859"/>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38</a:t>
            </a:r>
            <a:endParaRPr lang="en-US" sz="1600" dirty="0"/>
          </a:p>
        </p:txBody>
      </p:sp>
      <p:sp>
        <p:nvSpPr>
          <p:cNvPr id="5" name="Text 3"/>
          <p:cNvSpPr/>
          <p:nvPr/>
        </p:nvSpPr>
        <p:spPr>
          <a:xfrm>
            <a:off x="2914650" y="1626859"/>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27</a:t>
            </a:r>
            <a:endParaRPr lang="en-US" sz="1600" dirty="0"/>
          </a:p>
        </p:txBody>
      </p:sp>
      <p:sp>
        <p:nvSpPr>
          <p:cNvPr id="6" name="Text 4"/>
          <p:cNvSpPr/>
          <p:nvPr/>
        </p:nvSpPr>
        <p:spPr>
          <a:xfrm>
            <a:off x="3587750" y="1626859"/>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43</a:t>
            </a:r>
            <a:endParaRPr lang="en-US" sz="1600" dirty="0"/>
          </a:p>
        </p:txBody>
      </p:sp>
      <p:sp>
        <p:nvSpPr>
          <p:cNvPr id="7" name="Text 5"/>
          <p:cNvSpPr/>
          <p:nvPr/>
        </p:nvSpPr>
        <p:spPr>
          <a:xfrm>
            <a:off x="4260850" y="1626859"/>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3</a:t>
            </a:r>
            <a:endParaRPr lang="en-US" sz="1600" dirty="0"/>
          </a:p>
        </p:txBody>
      </p:sp>
      <p:sp>
        <p:nvSpPr>
          <p:cNvPr id="8" name="Text 6"/>
          <p:cNvSpPr/>
          <p:nvPr/>
        </p:nvSpPr>
        <p:spPr>
          <a:xfrm>
            <a:off x="4933950" y="1626859"/>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9</a:t>
            </a:r>
            <a:endParaRPr lang="en-US" sz="1600" dirty="0"/>
          </a:p>
        </p:txBody>
      </p:sp>
      <p:sp>
        <p:nvSpPr>
          <p:cNvPr id="9" name="Text 7"/>
          <p:cNvSpPr/>
          <p:nvPr/>
        </p:nvSpPr>
        <p:spPr>
          <a:xfrm>
            <a:off x="5607050" y="1626859"/>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82</a:t>
            </a:r>
            <a:endParaRPr lang="en-US" sz="1600" dirty="0"/>
          </a:p>
        </p:txBody>
      </p:sp>
      <p:sp>
        <p:nvSpPr>
          <p:cNvPr id="10" name="Text 8"/>
          <p:cNvSpPr/>
          <p:nvPr/>
        </p:nvSpPr>
        <p:spPr>
          <a:xfrm>
            <a:off x="6280150" y="1626859"/>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10</a:t>
            </a:r>
            <a:endParaRPr lang="en-US" sz="1600" dirty="0"/>
          </a:p>
        </p:txBody>
      </p:sp>
      <p:sp>
        <p:nvSpPr>
          <p:cNvPr id="11" name="Text 9"/>
          <p:cNvSpPr/>
          <p:nvPr/>
        </p:nvSpPr>
        <p:spPr>
          <a:xfrm>
            <a:off x="6953250" y="1626859"/>
            <a:ext cx="469900" cy="393700"/>
          </a:xfrm>
          <a:prstGeom prst="roundRect">
            <a:avLst>
              <a:gd name="adj" fmla="val 11290"/>
            </a:avLst>
          </a:prstGeom>
          <a:solidFill>
            <a:srgbClr val="FFFFFF"/>
          </a:solidFill>
          <a:ln w="12700">
            <a:solidFill>
              <a:srgbClr val="14213D"/>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5</a:t>
            </a:r>
            <a:endParaRPr lang="en-US" sz="1600" dirty="0"/>
          </a:p>
        </p:txBody>
      </p:sp>
      <p:sp>
        <p:nvSpPr>
          <p:cNvPr id="12" name="Text 10"/>
          <p:cNvSpPr/>
          <p:nvPr/>
        </p:nvSpPr>
        <p:spPr>
          <a:xfrm>
            <a:off x="812800" y="2308820"/>
            <a:ext cx="13208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Merge pairs</a:t>
            </a:r>
            <a:endParaRPr lang="en-US" sz="1400" dirty="0"/>
          </a:p>
        </p:txBody>
      </p:sp>
      <p:sp>
        <p:nvSpPr>
          <p:cNvPr id="13" name="Text 11"/>
          <p:cNvSpPr/>
          <p:nvPr/>
        </p:nvSpPr>
        <p:spPr>
          <a:xfrm>
            <a:off x="2241550" y="2236459"/>
            <a:ext cx="469900" cy="393700"/>
          </a:xfrm>
          <a:prstGeom prst="roundRect">
            <a:avLst>
              <a:gd name="adj" fmla="val 11290"/>
            </a:avLst>
          </a:prstGeom>
          <a:solidFill>
            <a:srgbClr val="FCE3CC"/>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27</a:t>
            </a:r>
            <a:endParaRPr lang="en-US" sz="1600" dirty="0"/>
          </a:p>
        </p:txBody>
      </p:sp>
      <p:sp>
        <p:nvSpPr>
          <p:cNvPr id="14" name="Text 12"/>
          <p:cNvSpPr/>
          <p:nvPr/>
        </p:nvSpPr>
        <p:spPr>
          <a:xfrm>
            <a:off x="2762250" y="2236459"/>
            <a:ext cx="469900" cy="393700"/>
          </a:xfrm>
          <a:prstGeom prst="roundRect">
            <a:avLst>
              <a:gd name="adj" fmla="val 11290"/>
            </a:avLst>
          </a:prstGeom>
          <a:solidFill>
            <a:srgbClr val="FCE3CC"/>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38</a:t>
            </a:r>
            <a:endParaRPr lang="en-US" sz="1600" dirty="0"/>
          </a:p>
        </p:txBody>
      </p:sp>
      <p:sp>
        <p:nvSpPr>
          <p:cNvPr id="15" name="Text 13"/>
          <p:cNvSpPr/>
          <p:nvPr/>
        </p:nvSpPr>
        <p:spPr>
          <a:xfrm>
            <a:off x="3435350" y="2236459"/>
            <a:ext cx="469900" cy="393700"/>
          </a:xfrm>
          <a:prstGeom prst="roundRect">
            <a:avLst>
              <a:gd name="adj" fmla="val 11290"/>
            </a:avLst>
          </a:prstGeom>
          <a:solidFill>
            <a:srgbClr val="FCE3CC"/>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3</a:t>
            </a:r>
            <a:endParaRPr lang="en-US" sz="1600" dirty="0"/>
          </a:p>
        </p:txBody>
      </p:sp>
      <p:sp>
        <p:nvSpPr>
          <p:cNvPr id="16" name="Text 14"/>
          <p:cNvSpPr/>
          <p:nvPr/>
        </p:nvSpPr>
        <p:spPr>
          <a:xfrm>
            <a:off x="3956050" y="2236459"/>
            <a:ext cx="469900" cy="393700"/>
          </a:xfrm>
          <a:prstGeom prst="roundRect">
            <a:avLst>
              <a:gd name="adj" fmla="val 11290"/>
            </a:avLst>
          </a:prstGeom>
          <a:solidFill>
            <a:srgbClr val="FCE3CC"/>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43</a:t>
            </a:r>
            <a:endParaRPr lang="en-US" sz="1600" dirty="0"/>
          </a:p>
        </p:txBody>
      </p:sp>
      <p:sp>
        <p:nvSpPr>
          <p:cNvPr id="17" name="Text 15"/>
          <p:cNvSpPr/>
          <p:nvPr/>
        </p:nvSpPr>
        <p:spPr>
          <a:xfrm>
            <a:off x="4629150" y="2236459"/>
            <a:ext cx="469900" cy="393700"/>
          </a:xfrm>
          <a:prstGeom prst="roundRect">
            <a:avLst>
              <a:gd name="adj" fmla="val 11290"/>
            </a:avLst>
          </a:prstGeom>
          <a:solidFill>
            <a:srgbClr val="FCE3CC"/>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9</a:t>
            </a:r>
            <a:endParaRPr lang="en-US" sz="1600" dirty="0"/>
          </a:p>
        </p:txBody>
      </p:sp>
      <p:sp>
        <p:nvSpPr>
          <p:cNvPr id="18" name="Text 16"/>
          <p:cNvSpPr/>
          <p:nvPr/>
        </p:nvSpPr>
        <p:spPr>
          <a:xfrm>
            <a:off x="5149850" y="2236459"/>
            <a:ext cx="469900" cy="393700"/>
          </a:xfrm>
          <a:prstGeom prst="roundRect">
            <a:avLst>
              <a:gd name="adj" fmla="val 11290"/>
            </a:avLst>
          </a:prstGeom>
          <a:solidFill>
            <a:srgbClr val="FCE3CC"/>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82</a:t>
            </a:r>
            <a:endParaRPr lang="en-US" sz="1600" dirty="0"/>
          </a:p>
        </p:txBody>
      </p:sp>
      <p:sp>
        <p:nvSpPr>
          <p:cNvPr id="19" name="Text 17"/>
          <p:cNvSpPr/>
          <p:nvPr/>
        </p:nvSpPr>
        <p:spPr>
          <a:xfrm>
            <a:off x="5822950" y="2236459"/>
            <a:ext cx="469900" cy="393700"/>
          </a:xfrm>
          <a:prstGeom prst="roundRect">
            <a:avLst>
              <a:gd name="adj" fmla="val 11290"/>
            </a:avLst>
          </a:prstGeom>
          <a:solidFill>
            <a:srgbClr val="FCE3CC"/>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5</a:t>
            </a:r>
            <a:endParaRPr lang="en-US" sz="1600" dirty="0"/>
          </a:p>
        </p:txBody>
      </p:sp>
      <p:sp>
        <p:nvSpPr>
          <p:cNvPr id="20" name="Text 18"/>
          <p:cNvSpPr/>
          <p:nvPr/>
        </p:nvSpPr>
        <p:spPr>
          <a:xfrm>
            <a:off x="6343650" y="2236459"/>
            <a:ext cx="469900" cy="393700"/>
          </a:xfrm>
          <a:prstGeom prst="roundRect">
            <a:avLst>
              <a:gd name="adj" fmla="val 11290"/>
            </a:avLst>
          </a:prstGeom>
          <a:solidFill>
            <a:srgbClr val="FCE3CC"/>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10</a:t>
            </a:r>
            <a:endParaRPr lang="en-US" sz="1600" dirty="0"/>
          </a:p>
        </p:txBody>
      </p:sp>
      <p:sp>
        <p:nvSpPr>
          <p:cNvPr id="21" name="Text 19"/>
          <p:cNvSpPr/>
          <p:nvPr/>
        </p:nvSpPr>
        <p:spPr>
          <a:xfrm>
            <a:off x="812800" y="2918420"/>
            <a:ext cx="13208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Merge fours</a:t>
            </a:r>
            <a:endParaRPr lang="en-US" sz="1400" dirty="0"/>
          </a:p>
        </p:txBody>
      </p:sp>
      <p:sp>
        <p:nvSpPr>
          <p:cNvPr id="22" name="Text 20"/>
          <p:cNvSpPr/>
          <p:nvPr/>
        </p:nvSpPr>
        <p:spPr>
          <a:xfrm>
            <a:off x="2241550" y="2846059"/>
            <a:ext cx="469900" cy="393700"/>
          </a:xfrm>
          <a:prstGeom prst="roundRect">
            <a:avLst>
              <a:gd name="adj" fmla="val 11290"/>
            </a:avLst>
          </a:prstGeom>
          <a:solidFill>
            <a:srgbClr val="FCE3CC"/>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3</a:t>
            </a:r>
            <a:endParaRPr lang="en-US" sz="1600" dirty="0"/>
          </a:p>
        </p:txBody>
      </p:sp>
      <p:sp>
        <p:nvSpPr>
          <p:cNvPr id="23" name="Text 21"/>
          <p:cNvSpPr/>
          <p:nvPr/>
        </p:nvSpPr>
        <p:spPr>
          <a:xfrm>
            <a:off x="2762250" y="2846059"/>
            <a:ext cx="469900" cy="393700"/>
          </a:xfrm>
          <a:prstGeom prst="roundRect">
            <a:avLst>
              <a:gd name="adj" fmla="val 11290"/>
            </a:avLst>
          </a:prstGeom>
          <a:solidFill>
            <a:srgbClr val="FCE3CC"/>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27</a:t>
            </a:r>
            <a:endParaRPr lang="en-US" sz="1600" dirty="0"/>
          </a:p>
        </p:txBody>
      </p:sp>
      <p:sp>
        <p:nvSpPr>
          <p:cNvPr id="24" name="Text 22"/>
          <p:cNvSpPr/>
          <p:nvPr/>
        </p:nvSpPr>
        <p:spPr>
          <a:xfrm>
            <a:off x="3282950" y="2846059"/>
            <a:ext cx="469900" cy="393700"/>
          </a:xfrm>
          <a:prstGeom prst="roundRect">
            <a:avLst>
              <a:gd name="adj" fmla="val 11290"/>
            </a:avLst>
          </a:prstGeom>
          <a:solidFill>
            <a:srgbClr val="FCE3CC"/>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38</a:t>
            </a:r>
            <a:endParaRPr lang="en-US" sz="1600" dirty="0"/>
          </a:p>
        </p:txBody>
      </p:sp>
      <p:sp>
        <p:nvSpPr>
          <p:cNvPr id="25" name="Text 23"/>
          <p:cNvSpPr/>
          <p:nvPr/>
        </p:nvSpPr>
        <p:spPr>
          <a:xfrm>
            <a:off x="3803650" y="2846059"/>
            <a:ext cx="469900" cy="393700"/>
          </a:xfrm>
          <a:prstGeom prst="roundRect">
            <a:avLst>
              <a:gd name="adj" fmla="val 11290"/>
            </a:avLst>
          </a:prstGeom>
          <a:solidFill>
            <a:srgbClr val="FCE3CC"/>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43</a:t>
            </a:r>
            <a:endParaRPr lang="en-US" sz="1600" dirty="0"/>
          </a:p>
        </p:txBody>
      </p:sp>
      <p:sp>
        <p:nvSpPr>
          <p:cNvPr id="26" name="Text 24"/>
          <p:cNvSpPr/>
          <p:nvPr/>
        </p:nvSpPr>
        <p:spPr>
          <a:xfrm>
            <a:off x="4476750" y="2846059"/>
            <a:ext cx="469900" cy="393700"/>
          </a:xfrm>
          <a:prstGeom prst="roundRect">
            <a:avLst>
              <a:gd name="adj" fmla="val 11290"/>
            </a:avLst>
          </a:prstGeom>
          <a:solidFill>
            <a:srgbClr val="FCE3CC"/>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5</a:t>
            </a:r>
            <a:endParaRPr lang="en-US" sz="1600" dirty="0"/>
          </a:p>
        </p:txBody>
      </p:sp>
      <p:sp>
        <p:nvSpPr>
          <p:cNvPr id="27" name="Text 25"/>
          <p:cNvSpPr/>
          <p:nvPr/>
        </p:nvSpPr>
        <p:spPr>
          <a:xfrm>
            <a:off x="4997450" y="2846059"/>
            <a:ext cx="469900" cy="393700"/>
          </a:xfrm>
          <a:prstGeom prst="roundRect">
            <a:avLst>
              <a:gd name="adj" fmla="val 11290"/>
            </a:avLst>
          </a:prstGeom>
          <a:solidFill>
            <a:srgbClr val="FCE3CC"/>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9</a:t>
            </a:r>
            <a:endParaRPr lang="en-US" sz="1600" dirty="0"/>
          </a:p>
        </p:txBody>
      </p:sp>
      <p:sp>
        <p:nvSpPr>
          <p:cNvPr id="28" name="Text 26"/>
          <p:cNvSpPr/>
          <p:nvPr/>
        </p:nvSpPr>
        <p:spPr>
          <a:xfrm>
            <a:off x="5518150" y="2846059"/>
            <a:ext cx="469900" cy="393700"/>
          </a:xfrm>
          <a:prstGeom prst="roundRect">
            <a:avLst>
              <a:gd name="adj" fmla="val 11290"/>
            </a:avLst>
          </a:prstGeom>
          <a:solidFill>
            <a:srgbClr val="FCE3CC"/>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10</a:t>
            </a:r>
            <a:endParaRPr lang="en-US" sz="1600" dirty="0"/>
          </a:p>
        </p:txBody>
      </p:sp>
      <p:sp>
        <p:nvSpPr>
          <p:cNvPr id="29" name="Text 27"/>
          <p:cNvSpPr/>
          <p:nvPr/>
        </p:nvSpPr>
        <p:spPr>
          <a:xfrm>
            <a:off x="6038850" y="2846059"/>
            <a:ext cx="469900" cy="393700"/>
          </a:xfrm>
          <a:prstGeom prst="roundRect">
            <a:avLst>
              <a:gd name="adj" fmla="val 11290"/>
            </a:avLst>
          </a:prstGeom>
          <a:solidFill>
            <a:srgbClr val="FCE3CC"/>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82</a:t>
            </a:r>
            <a:endParaRPr lang="en-US" sz="1600" dirty="0"/>
          </a:p>
        </p:txBody>
      </p:sp>
      <p:sp>
        <p:nvSpPr>
          <p:cNvPr id="30" name="Text 28"/>
          <p:cNvSpPr/>
          <p:nvPr/>
        </p:nvSpPr>
        <p:spPr>
          <a:xfrm>
            <a:off x="812800" y="3528020"/>
            <a:ext cx="13208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Merge all</a:t>
            </a:r>
            <a:endParaRPr lang="en-US" sz="1400" dirty="0"/>
          </a:p>
        </p:txBody>
      </p:sp>
      <p:sp>
        <p:nvSpPr>
          <p:cNvPr id="31" name="Text 29"/>
          <p:cNvSpPr/>
          <p:nvPr/>
        </p:nvSpPr>
        <p:spPr>
          <a:xfrm>
            <a:off x="2241550" y="3455659"/>
            <a:ext cx="469900" cy="393700"/>
          </a:xfrm>
          <a:prstGeom prst="roundRect">
            <a:avLst>
              <a:gd name="adj" fmla="val 11290"/>
            </a:avLst>
          </a:prstGeom>
          <a:solidFill>
            <a:srgbClr val="F2994A"/>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3</a:t>
            </a:r>
            <a:endParaRPr lang="en-US" sz="1600" dirty="0"/>
          </a:p>
        </p:txBody>
      </p:sp>
      <p:sp>
        <p:nvSpPr>
          <p:cNvPr id="32" name="Text 30"/>
          <p:cNvSpPr/>
          <p:nvPr/>
        </p:nvSpPr>
        <p:spPr>
          <a:xfrm>
            <a:off x="2762250" y="3455659"/>
            <a:ext cx="469900" cy="393700"/>
          </a:xfrm>
          <a:prstGeom prst="roundRect">
            <a:avLst>
              <a:gd name="adj" fmla="val 11290"/>
            </a:avLst>
          </a:prstGeom>
          <a:solidFill>
            <a:srgbClr val="F2994A"/>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5</a:t>
            </a:r>
            <a:endParaRPr lang="en-US" sz="1600" dirty="0"/>
          </a:p>
        </p:txBody>
      </p:sp>
      <p:sp>
        <p:nvSpPr>
          <p:cNvPr id="33" name="Text 31"/>
          <p:cNvSpPr/>
          <p:nvPr/>
        </p:nvSpPr>
        <p:spPr>
          <a:xfrm>
            <a:off x="3282950" y="3455659"/>
            <a:ext cx="469900" cy="393700"/>
          </a:xfrm>
          <a:prstGeom prst="roundRect">
            <a:avLst>
              <a:gd name="adj" fmla="val 11290"/>
            </a:avLst>
          </a:prstGeom>
          <a:solidFill>
            <a:srgbClr val="F2994A"/>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9</a:t>
            </a:r>
            <a:endParaRPr lang="en-US" sz="1600" dirty="0"/>
          </a:p>
        </p:txBody>
      </p:sp>
      <p:sp>
        <p:nvSpPr>
          <p:cNvPr id="34" name="Text 32"/>
          <p:cNvSpPr/>
          <p:nvPr/>
        </p:nvSpPr>
        <p:spPr>
          <a:xfrm>
            <a:off x="3803650" y="3455659"/>
            <a:ext cx="469900" cy="393700"/>
          </a:xfrm>
          <a:prstGeom prst="roundRect">
            <a:avLst>
              <a:gd name="adj" fmla="val 11290"/>
            </a:avLst>
          </a:prstGeom>
          <a:solidFill>
            <a:srgbClr val="F2994A"/>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10</a:t>
            </a:r>
            <a:endParaRPr lang="en-US" sz="1600" dirty="0"/>
          </a:p>
        </p:txBody>
      </p:sp>
      <p:sp>
        <p:nvSpPr>
          <p:cNvPr id="35" name="Text 33"/>
          <p:cNvSpPr/>
          <p:nvPr/>
        </p:nvSpPr>
        <p:spPr>
          <a:xfrm>
            <a:off x="4324350" y="3455659"/>
            <a:ext cx="469900" cy="393700"/>
          </a:xfrm>
          <a:prstGeom prst="roundRect">
            <a:avLst>
              <a:gd name="adj" fmla="val 11290"/>
            </a:avLst>
          </a:prstGeom>
          <a:solidFill>
            <a:srgbClr val="F2994A"/>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27</a:t>
            </a:r>
            <a:endParaRPr lang="en-US" sz="1600" dirty="0"/>
          </a:p>
        </p:txBody>
      </p:sp>
      <p:sp>
        <p:nvSpPr>
          <p:cNvPr id="36" name="Text 34"/>
          <p:cNvSpPr/>
          <p:nvPr/>
        </p:nvSpPr>
        <p:spPr>
          <a:xfrm>
            <a:off x="4845050" y="3455659"/>
            <a:ext cx="469900" cy="393700"/>
          </a:xfrm>
          <a:prstGeom prst="roundRect">
            <a:avLst>
              <a:gd name="adj" fmla="val 11290"/>
            </a:avLst>
          </a:prstGeom>
          <a:solidFill>
            <a:srgbClr val="F2994A"/>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38</a:t>
            </a:r>
            <a:endParaRPr lang="en-US" sz="1600" dirty="0"/>
          </a:p>
        </p:txBody>
      </p:sp>
      <p:sp>
        <p:nvSpPr>
          <p:cNvPr id="37" name="Text 35"/>
          <p:cNvSpPr/>
          <p:nvPr/>
        </p:nvSpPr>
        <p:spPr>
          <a:xfrm>
            <a:off x="5365750" y="3455659"/>
            <a:ext cx="469900" cy="393700"/>
          </a:xfrm>
          <a:prstGeom prst="roundRect">
            <a:avLst>
              <a:gd name="adj" fmla="val 11290"/>
            </a:avLst>
          </a:prstGeom>
          <a:solidFill>
            <a:srgbClr val="F2994A"/>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43</a:t>
            </a:r>
            <a:endParaRPr lang="en-US" sz="1600" dirty="0"/>
          </a:p>
        </p:txBody>
      </p:sp>
      <p:sp>
        <p:nvSpPr>
          <p:cNvPr id="38" name="Text 36"/>
          <p:cNvSpPr/>
          <p:nvPr/>
        </p:nvSpPr>
        <p:spPr>
          <a:xfrm>
            <a:off x="5886450" y="3455659"/>
            <a:ext cx="469900" cy="393700"/>
          </a:xfrm>
          <a:prstGeom prst="roundRect">
            <a:avLst>
              <a:gd name="adj" fmla="val 11290"/>
            </a:avLst>
          </a:prstGeom>
          <a:solidFill>
            <a:srgbClr val="F2994A"/>
          </a:solidFill>
          <a:ln w="12700">
            <a:solidFill>
              <a:srgbClr val="D9691E"/>
            </a:solidFill>
            <a:prstDash val="solid"/>
          </a:ln>
        </p:spPr>
        <p:txBody>
          <a:bodyPr wrap="square" lIns="0" tIns="0" rIns="0" bIns="0" rtlCol="0" anchor="ctr">
            <a:normAutofit/>
          </a:bodyPr>
          <a:lstStyle/>
          <a:p>
            <a:pPr algn="ctr" indent="0" marL="0">
              <a:lnSpc>
                <a:spcPts val="2240"/>
              </a:lnSpc>
              <a:buNone/>
            </a:pPr>
            <a:r>
              <a:rPr lang="en-US" sz="1600" b="1" dirty="0">
                <a:solidFill>
                  <a:srgbClr val="14213D"/>
                </a:solidFill>
                <a:latin typeface="DM Sans" pitchFamily="34" charset="0"/>
                <a:ea typeface="DM Sans" pitchFamily="34" charset="-122"/>
                <a:cs typeface="DM Sans" pitchFamily="34" charset="-120"/>
              </a:rPr>
              <a:t>82</a:t>
            </a:r>
            <a:endParaRPr lang="en-US" sz="1600" dirty="0"/>
          </a:p>
        </p:txBody>
      </p:sp>
      <p:sp>
        <p:nvSpPr>
          <p:cNvPr id="39" name="Shape 37"/>
          <p:cNvSpPr/>
          <p:nvPr/>
        </p:nvSpPr>
        <p:spPr>
          <a:xfrm>
            <a:off x="7785100" y="1620509"/>
            <a:ext cx="3594100" cy="1798108"/>
          </a:xfrm>
          <a:prstGeom prst="roundRect">
            <a:avLst>
              <a:gd name="adj" fmla="val 5650"/>
            </a:avLst>
          </a:prstGeom>
          <a:solidFill>
            <a:srgbClr val="14213D"/>
          </a:solidFill>
          <a:ln/>
        </p:spPr>
      </p:sp>
      <p:sp>
        <p:nvSpPr>
          <p:cNvPr id="40" name="Text 38"/>
          <p:cNvSpPr/>
          <p:nvPr/>
        </p:nvSpPr>
        <p:spPr>
          <a:xfrm>
            <a:off x="8039100" y="1874509"/>
            <a:ext cx="3178683"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994A"/>
                </a:solidFill>
                <a:latin typeface="DM Sans" pitchFamily="34" charset="0"/>
                <a:ea typeface="DM Sans" pitchFamily="34" charset="-122"/>
                <a:cs typeface="DM Sans" pitchFamily="34" charset="-120"/>
              </a:rPr>
              <a:t>O(n) per level</a:t>
            </a:r>
            <a:endParaRPr lang="en-US" sz="2200" dirty="0"/>
          </a:p>
        </p:txBody>
      </p:sp>
      <p:sp>
        <p:nvSpPr>
          <p:cNvPr id="41" name="Text 39"/>
          <p:cNvSpPr/>
          <p:nvPr/>
        </p:nvSpPr>
        <p:spPr>
          <a:xfrm>
            <a:off x="8039100" y="2311335"/>
            <a:ext cx="3178683"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EDF5"/>
                </a:solidFill>
                <a:latin typeface="DM Sans" pitchFamily="34" charset="0"/>
                <a:ea typeface="DM Sans" pitchFamily="34" charset="-122"/>
                <a:cs typeface="DM Sans" pitchFamily="34" charset="-120"/>
              </a:rPr>
              <a:t>Every level merges all 8 elements once, so the work at each level is proportional to n.</a:t>
            </a:r>
            <a:endParaRPr lang="en-US" sz="1600" dirty="0"/>
          </a:p>
        </p:txBody>
      </p:sp>
      <p:sp>
        <p:nvSpPr>
          <p:cNvPr id="42" name="Text 4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Generated using Claude · Merge Sort · DAA</a:t>
            </a:r>
            <a:endParaRPr lang="en-US" sz="1200" dirty="0"/>
          </a:p>
        </p:txBody>
      </p:sp>
      <p:sp>
        <p:nvSpPr>
          <p:cNvPr id="43" name="Text 4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Merge trace: the final merge</a:t>
            </a:r>
            <a:endParaRPr lang="en-US" sz="3600" dirty="0"/>
          </a:p>
        </p:txBody>
      </p:sp>
      <p:sp>
        <p:nvSpPr>
          <p:cNvPr id="3" name="Text 1"/>
          <p:cNvSpPr/>
          <p:nvPr/>
        </p:nvSpPr>
        <p:spPr>
          <a:xfrm>
            <a:off x="812800" y="1518909"/>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Left = [3, 27, 38, 43] and Right = [5, 9, 10, 82]. Compare the two front elements, copy the smaller one.</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19235"/>
          <a:ext cx="10553700" cy="3473648"/>
        </p:xfrm>
        <a:graphic>
          <a:graphicData uri="http://schemas.openxmlformats.org/drawingml/2006/table">
            <a:tbl>
              <a:tblPr/>
              <a:tblGrid>
                <a:gridCol w="949833"/>
                <a:gridCol w="2638425"/>
                <a:gridCol w="2743962"/>
                <a:gridCol w="4221480"/>
              </a:tblGrid>
              <a:tr h="385961">
                <a:tc>
                  <a:txBody>
                    <a:bodyPr/>
                    <a:lstStyle/>
                    <a:p>
                      <a:pPr indent="0" marL="0">
                        <a:lnSpc>
                          <a:spcPts val="1960"/>
                        </a:lnSpc>
                        <a:buNone/>
                      </a:pPr>
                      <a:r>
                        <a:rPr lang="en-US" sz="1400" b="1" dirty="0">
                          <a:solidFill>
                            <a:srgbClr val="FBFBF8"/>
                          </a:solidFill>
                          <a:latin typeface="DM Sans" pitchFamily="34" charset="0"/>
                          <a:ea typeface="DM Sans" pitchFamily="34" charset="-122"/>
                          <a:cs typeface="DM Sans" pitchFamily="34" charset="-120"/>
                        </a:rPr>
                        <a:t>Step</a:t>
                      </a:r>
                      <a:endParaRPr lang="en-US" sz="1400" dirty="0">
                        <a:latin typeface="DM Sans" charset="0"/>
                        <a:ea typeface="DM Sans" charset="0"/>
                        <a:cs typeface="DM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BFBF8"/>
                          </a:solidFill>
                          <a:latin typeface="DM Sans" pitchFamily="34" charset="0"/>
                          <a:ea typeface="DM Sans" pitchFamily="34" charset="-122"/>
                          <a:cs typeface="DM Sans" pitchFamily="34" charset="-120"/>
                        </a:rPr>
                        <a:t>Compare</a:t>
                      </a:r>
                      <a:endParaRPr lang="en-US" sz="1400" dirty="0">
                        <a:latin typeface="DM Sans" charset="0"/>
                        <a:ea typeface="DM Sans" charset="0"/>
                        <a:cs typeface="DM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BFBF8"/>
                          </a:solidFill>
                          <a:latin typeface="DM Sans" pitchFamily="34" charset="0"/>
                          <a:ea typeface="DM Sans" pitchFamily="34" charset="-122"/>
                          <a:cs typeface="DM Sans" pitchFamily="34" charset="-120"/>
                        </a:rPr>
                        <a:t>Take</a:t>
                      </a:r>
                      <a:endParaRPr lang="en-US" sz="1400" dirty="0">
                        <a:latin typeface="DM Sans" charset="0"/>
                        <a:ea typeface="DM Sans" charset="0"/>
                        <a:cs typeface="DM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BFBF8"/>
                          </a:solidFill>
                          <a:latin typeface="DM Sans" pitchFamily="34" charset="0"/>
                          <a:ea typeface="DM Sans" pitchFamily="34" charset="-122"/>
                          <a:cs typeface="DM Sans" pitchFamily="34" charset="-120"/>
                        </a:rPr>
                        <a:t>Output so far</a:t>
                      </a:r>
                      <a:endParaRPr lang="en-US" sz="1400" dirty="0">
                        <a:latin typeface="DM Sans" charset="0"/>
                        <a:ea typeface="DM Sans" charset="0"/>
                        <a:cs typeface="DM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85961">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1</a:t>
                      </a:r>
                      <a:endParaRPr lang="en-US" sz="1400" dirty="0">
                        <a:latin typeface="DM Sans" charset="0"/>
                        <a:ea typeface="DM Sans" charset="0"/>
                        <a:cs typeface="DM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3 vs 5</a:t>
                      </a:r>
                      <a:endParaRPr lang="en-US" sz="1400" dirty="0">
                        <a:latin typeface="DM Sans" charset="0"/>
                        <a:ea typeface="DM Sans" charset="0"/>
                        <a:cs typeface="DM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3 (left)</a:t>
                      </a:r>
                      <a:endParaRPr lang="en-US" sz="1400" dirty="0">
                        <a:latin typeface="DM Sans" charset="0"/>
                        <a:ea typeface="DM Sans" charset="0"/>
                        <a:cs typeface="DM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[3]</a:t>
                      </a:r>
                      <a:endParaRPr lang="en-US" sz="1400" dirty="0">
                        <a:latin typeface="DM Sans" charset="0"/>
                        <a:ea typeface="DM Sans" charset="0"/>
                        <a:cs typeface="DM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2</a:t>
                      </a:r>
                      <a:endParaRPr lang="en-US" sz="1400" dirty="0">
                        <a:latin typeface="DM Sans" charset="0"/>
                        <a:ea typeface="DM Sans" charset="0"/>
                        <a:cs typeface="DM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27 vs 5</a:t>
                      </a:r>
                      <a:endParaRPr lang="en-US" sz="1400" dirty="0">
                        <a:latin typeface="DM Sans" charset="0"/>
                        <a:ea typeface="DM Sans" charset="0"/>
                        <a:cs typeface="DM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5 (right)</a:t>
                      </a:r>
                      <a:endParaRPr lang="en-US" sz="1400" dirty="0">
                        <a:latin typeface="DM Sans" charset="0"/>
                        <a:ea typeface="DM Sans" charset="0"/>
                        <a:cs typeface="DM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[3, 5]</a:t>
                      </a:r>
                      <a:endParaRPr lang="en-US" sz="1400" dirty="0">
                        <a:latin typeface="DM Sans" charset="0"/>
                        <a:ea typeface="DM Sans" charset="0"/>
                        <a:cs typeface="DM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r>
              <a:tr h="385961">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3</a:t>
                      </a:r>
                      <a:endParaRPr lang="en-US" sz="1400" dirty="0">
                        <a:latin typeface="DM Sans" charset="0"/>
                        <a:ea typeface="DM Sans" charset="0"/>
                        <a:cs typeface="DM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27 vs 9</a:t>
                      </a:r>
                      <a:endParaRPr lang="en-US" sz="1400" dirty="0">
                        <a:latin typeface="DM Sans" charset="0"/>
                        <a:ea typeface="DM Sans" charset="0"/>
                        <a:cs typeface="DM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9 (right)</a:t>
                      </a:r>
                      <a:endParaRPr lang="en-US" sz="1400" dirty="0">
                        <a:latin typeface="DM Sans" charset="0"/>
                        <a:ea typeface="DM Sans" charset="0"/>
                        <a:cs typeface="DM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[3, 5, 9]</a:t>
                      </a:r>
                      <a:endParaRPr lang="en-US" sz="1400" dirty="0">
                        <a:latin typeface="DM Sans" charset="0"/>
                        <a:ea typeface="DM Sans" charset="0"/>
                        <a:cs typeface="DM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4</a:t>
                      </a:r>
                      <a:endParaRPr lang="en-US" sz="1400" dirty="0">
                        <a:latin typeface="DM Sans" charset="0"/>
                        <a:ea typeface="DM Sans" charset="0"/>
                        <a:cs typeface="DM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27 vs 10</a:t>
                      </a:r>
                      <a:endParaRPr lang="en-US" sz="1400" dirty="0">
                        <a:latin typeface="DM Sans" charset="0"/>
                        <a:ea typeface="DM Sans" charset="0"/>
                        <a:cs typeface="DM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10 (right)</a:t>
                      </a:r>
                      <a:endParaRPr lang="en-US" sz="1400" dirty="0">
                        <a:latin typeface="DM Sans" charset="0"/>
                        <a:ea typeface="DM Sans" charset="0"/>
                        <a:cs typeface="DM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[3, 5, 9, 10]</a:t>
                      </a:r>
                      <a:endParaRPr lang="en-US" sz="1400" dirty="0">
                        <a:latin typeface="DM Sans" charset="0"/>
                        <a:ea typeface="DM Sans" charset="0"/>
                        <a:cs typeface="DM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r>
              <a:tr h="385961">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5</a:t>
                      </a:r>
                      <a:endParaRPr lang="en-US" sz="1400" dirty="0">
                        <a:latin typeface="DM Sans" charset="0"/>
                        <a:ea typeface="DM Sans" charset="0"/>
                        <a:cs typeface="DM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27 vs 82</a:t>
                      </a:r>
                      <a:endParaRPr lang="en-US" sz="1400" dirty="0">
                        <a:latin typeface="DM Sans" charset="0"/>
                        <a:ea typeface="DM Sans" charset="0"/>
                        <a:cs typeface="DM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27 (left)</a:t>
                      </a:r>
                      <a:endParaRPr lang="en-US" sz="1400" dirty="0">
                        <a:latin typeface="DM Sans" charset="0"/>
                        <a:ea typeface="DM Sans" charset="0"/>
                        <a:cs typeface="DM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[3, 5, 9, 10, 27]</a:t>
                      </a:r>
                      <a:endParaRPr lang="en-US" sz="1400" dirty="0">
                        <a:latin typeface="DM Sans" charset="0"/>
                        <a:ea typeface="DM Sans" charset="0"/>
                        <a:cs typeface="DM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6</a:t>
                      </a:r>
                      <a:endParaRPr lang="en-US" sz="1400" dirty="0">
                        <a:latin typeface="DM Sans" charset="0"/>
                        <a:ea typeface="DM Sans" charset="0"/>
                        <a:cs typeface="DM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38 vs 82</a:t>
                      </a:r>
                      <a:endParaRPr lang="en-US" sz="1400" dirty="0">
                        <a:latin typeface="DM Sans" charset="0"/>
                        <a:ea typeface="DM Sans" charset="0"/>
                        <a:cs typeface="DM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38 (left)</a:t>
                      </a:r>
                      <a:endParaRPr lang="en-US" sz="1400" dirty="0">
                        <a:latin typeface="DM Sans" charset="0"/>
                        <a:ea typeface="DM Sans" charset="0"/>
                        <a:cs typeface="DM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[3, 5, 9, 10, 27, 38]</a:t>
                      </a:r>
                      <a:endParaRPr lang="en-US" sz="1400" dirty="0">
                        <a:latin typeface="DM Sans" charset="0"/>
                        <a:ea typeface="DM Sans" charset="0"/>
                        <a:cs typeface="DM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r>
              <a:tr h="385961">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7</a:t>
                      </a:r>
                      <a:endParaRPr lang="en-US" sz="1400" dirty="0">
                        <a:latin typeface="DM Sans" charset="0"/>
                        <a:ea typeface="DM Sans" charset="0"/>
                        <a:cs typeface="DM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43 vs 82</a:t>
                      </a:r>
                      <a:endParaRPr lang="en-US" sz="1400" dirty="0">
                        <a:latin typeface="DM Sans" charset="0"/>
                        <a:ea typeface="DM Sans" charset="0"/>
                        <a:cs typeface="DM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43 (left)</a:t>
                      </a:r>
                      <a:endParaRPr lang="en-US" sz="1400" dirty="0">
                        <a:latin typeface="DM Sans" charset="0"/>
                        <a:ea typeface="DM Sans" charset="0"/>
                        <a:cs typeface="DM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[3, 5, 9, 10, 27, 38, 43]</a:t>
                      </a:r>
                      <a:endParaRPr lang="en-US" sz="1400" dirty="0">
                        <a:latin typeface="DM Sans" charset="0"/>
                        <a:ea typeface="DM Sans" charset="0"/>
                        <a:cs typeface="DM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8</a:t>
                      </a:r>
                      <a:endParaRPr lang="en-US" sz="1400" dirty="0">
                        <a:latin typeface="DM Sans" charset="0"/>
                        <a:ea typeface="DM Sans" charset="0"/>
                        <a:cs typeface="DM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Left is empty</a:t>
                      </a:r>
                      <a:endParaRPr lang="en-US" sz="1400" dirty="0">
                        <a:latin typeface="DM Sans" charset="0"/>
                        <a:ea typeface="DM Sans" charset="0"/>
                        <a:cs typeface="DM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82 (copy the rest)</a:t>
                      </a:r>
                      <a:endParaRPr lang="en-US" sz="1400" dirty="0">
                        <a:latin typeface="DM Sans" charset="0"/>
                        <a:ea typeface="DM Sans" charset="0"/>
                        <a:cs typeface="DM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[3, 5, 9, 10, 27, 38, 43, 82]</a:t>
                      </a:r>
                      <a:endParaRPr lang="en-US" sz="1400" dirty="0">
                        <a:latin typeface="DM Sans" charset="0"/>
                        <a:ea typeface="DM Sans" charset="0"/>
                        <a:cs typeface="DM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Generated using Claude · Merge Sort · DAA</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1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Sorted result</a:t>
            </a:r>
            <a:endParaRPr lang="en-US" sz="3600" dirty="0"/>
          </a:p>
        </p:txBody>
      </p:sp>
      <p:sp>
        <p:nvSpPr>
          <p:cNvPr id="3" name="Text 1"/>
          <p:cNvSpPr/>
          <p:nvPr/>
        </p:nvSpPr>
        <p:spPr>
          <a:xfrm>
            <a:off x="822325" y="1680834"/>
            <a:ext cx="933450" cy="806450"/>
          </a:xfrm>
          <a:prstGeom prst="roundRect">
            <a:avLst>
              <a:gd name="adj" fmla="val 9843"/>
            </a:avLst>
          </a:prstGeom>
          <a:solidFill>
            <a:srgbClr val="F2994A"/>
          </a:solidFill>
          <a:ln w="19050">
            <a:solidFill>
              <a:srgbClr val="D9691E"/>
            </a:solidFill>
            <a:prstDash val="solid"/>
          </a:ln>
        </p:spPr>
        <p:txBody>
          <a:bodyPr wrap="square" lIns="0" tIns="0" rIns="0" bIns="0" rtlCol="0" anchor="ctr">
            <a:normAutofit/>
          </a:bodyPr>
          <a:lstStyle/>
          <a:p>
            <a:pPr algn="ctr" indent="0" marL="0">
              <a:lnSpc>
                <a:spcPts val="3920"/>
              </a:lnSpc>
              <a:buNone/>
            </a:pPr>
            <a:r>
              <a:rPr lang="en-US" sz="2800" b="1" dirty="0">
                <a:solidFill>
                  <a:srgbClr val="14213D"/>
                </a:solidFill>
                <a:latin typeface="DM Sans" pitchFamily="34" charset="0"/>
                <a:ea typeface="DM Sans" pitchFamily="34" charset="-122"/>
                <a:cs typeface="DM Sans" pitchFamily="34" charset="-120"/>
              </a:rPr>
              <a:t>3</a:t>
            </a:r>
            <a:endParaRPr lang="en-US" sz="2800" dirty="0"/>
          </a:p>
        </p:txBody>
      </p:sp>
      <p:sp>
        <p:nvSpPr>
          <p:cNvPr id="4" name="Text 2"/>
          <p:cNvSpPr/>
          <p:nvPr/>
        </p:nvSpPr>
        <p:spPr>
          <a:xfrm>
            <a:off x="1876425" y="1680834"/>
            <a:ext cx="933450" cy="806450"/>
          </a:xfrm>
          <a:prstGeom prst="roundRect">
            <a:avLst>
              <a:gd name="adj" fmla="val 9843"/>
            </a:avLst>
          </a:prstGeom>
          <a:solidFill>
            <a:srgbClr val="F2994A"/>
          </a:solidFill>
          <a:ln w="19050">
            <a:solidFill>
              <a:srgbClr val="D9691E"/>
            </a:solidFill>
            <a:prstDash val="solid"/>
          </a:ln>
        </p:spPr>
        <p:txBody>
          <a:bodyPr wrap="square" lIns="0" tIns="0" rIns="0" bIns="0" rtlCol="0" anchor="ctr">
            <a:normAutofit/>
          </a:bodyPr>
          <a:lstStyle/>
          <a:p>
            <a:pPr algn="ctr" indent="0" marL="0">
              <a:lnSpc>
                <a:spcPts val="3920"/>
              </a:lnSpc>
              <a:buNone/>
            </a:pPr>
            <a:r>
              <a:rPr lang="en-US" sz="2800" b="1" dirty="0">
                <a:solidFill>
                  <a:srgbClr val="14213D"/>
                </a:solidFill>
                <a:latin typeface="DM Sans" pitchFamily="34" charset="0"/>
                <a:ea typeface="DM Sans" pitchFamily="34" charset="-122"/>
                <a:cs typeface="DM Sans" pitchFamily="34" charset="-120"/>
              </a:rPr>
              <a:t>5</a:t>
            </a:r>
            <a:endParaRPr lang="en-US" sz="2800" dirty="0"/>
          </a:p>
        </p:txBody>
      </p:sp>
      <p:sp>
        <p:nvSpPr>
          <p:cNvPr id="5" name="Text 3"/>
          <p:cNvSpPr/>
          <p:nvPr/>
        </p:nvSpPr>
        <p:spPr>
          <a:xfrm>
            <a:off x="2930525" y="1680834"/>
            <a:ext cx="933450" cy="806450"/>
          </a:xfrm>
          <a:prstGeom prst="roundRect">
            <a:avLst>
              <a:gd name="adj" fmla="val 9843"/>
            </a:avLst>
          </a:prstGeom>
          <a:solidFill>
            <a:srgbClr val="F2994A"/>
          </a:solidFill>
          <a:ln w="19050">
            <a:solidFill>
              <a:srgbClr val="D9691E"/>
            </a:solidFill>
            <a:prstDash val="solid"/>
          </a:ln>
        </p:spPr>
        <p:txBody>
          <a:bodyPr wrap="square" lIns="0" tIns="0" rIns="0" bIns="0" rtlCol="0" anchor="ctr">
            <a:normAutofit/>
          </a:bodyPr>
          <a:lstStyle/>
          <a:p>
            <a:pPr algn="ctr" indent="0" marL="0">
              <a:lnSpc>
                <a:spcPts val="3920"/>
              </a:lnSpc>
              <a:buNone/>
            </a:pPr>
            <a:r>
              <a:rPr lang="en-US" sz="2800" b="1" dirty="0">
                <a:solidFill>
                  <a:srgbClr val="14213D"/>
                </a:solidFill>
                <a:latin typeface="DM Sans" pitchFamily="34" charset="0"/>
                <a:ea typeface="DM Sans" pitchFamily="34" charset="-122"/>
                <a:cs typeface="DM Sans" pitchFamily="34" charset="-120"/>
              </a:rPr>
              <a:t>9</a:t>
            </a:r>
            <a:endParaRPr lang="en-US" sz="2800" dirty="0"/>
          </a:p>
        </p:txBody>
      </p:sp>
      <p:sp>
        <p:nvSpPr>
          <p:cNvPr id="6" name="Text 4"/>
          <p:cNvSpPr/>
          <p:nvPr/>
        </p:nvSpPr>
        <p:spPr>
          <a:xfrm>
            <a:off x="3984625" y="1680834"/>
            <a:ext cx="933450" cy="806450"/>
          </a:xfrm>
          <a:prstGeom prst="roundRect">
            <a:avLst>
              <a:gd name="adj" fmla="val 9843"/>
            </a:avLst>
          </a:prstGeom>
          <a:solidFill>
            <a:srgbClr val="F2994A"/>
          </a:solidFill>
          <a:ln w="19050">
            <a:solidFill>
              <a:srgbClr val="D9691E"/>
            </a:solidFill>
            <a:prstDash val="solid"/>
          </a:ln>
        </p:spPr>
        <p:txBody>
          <a:bodyPr wrap="square" lIns="0" tIns="0" rIns="0" bIns="0" rtlCol="0" anchor="ctr">
            <a:normAutofit/>
          </a:bodyPr>
          <a:lstStyle/>
          <a:p>
            <a:pPr algn="ctr" indent="0" marL="0">
              <a:lnSpc>
                <a:spcPts val="3920"/>
              </a:lnSpc>
              <a:buNone/>
            </a:pPr>
            <a:r>
              <a:rPr lang="en-US" sz="2800" b="1" dirty="0">
                <a:solidFill>
                  <a:srgbClr val="14213D"/>
                </a:solidFill>
                <a:latin typeface="DM Sans" pitchFamily="34" charset="0"/>
                <a:ea typeface="DM Sans" pitchFamily="34" charset="-122"/>
                <a:cs typeface="DM Sans" pitchFamily="34" charset="-120"/>
              </a:rPr>
              <a:t>10</a:t>
            </a:r>
            <a:endParaRPr lang="en-US" sz="2800" dirty="0"/>
          </a:p>
        </p:txBody>
      </p:sp>
      <p:sp>
        <p:nvSpPr>
          <p:cNvPr id="7" name="Text 5"/>
          <p:cNvSpPr/>
          <p:nvPr/>
        </p:nvSpPr>
        <p:spPr>
          <a:xfrm>
            <a:off x="5038725" y="1680834"/>
            <a:ext cx="933450" cy="806450"/>
          </a:xfrm>
          <a:prstGeom prst="roundRect">
            <a:avLst>
              <a:gd name="adj" fmla="val 9843"/>
            </a:avLst>
          </a:prstGeom>
          <a:solidFill>
            <a:srgbClr val="F2994A"/>
          </a:solidFill>
          <a:ln w="19050">
            <a:solidFill>
              <a:srgbClr val="D9691E"/>
            </a:solidFill>
            <a:prstDash val="solid"/>
          </a:ln>
        </p:spPr>
        <p:txBody>
          <a:bodyPr wrap="square" lIns="0" tIns="0" rIns="0" bIns="0" rtlCol="0" anchor="ctr">
            <a:normAutofit/>
          </a:bodyPr>
          <a:lstStyle/>
          <a:p>
            <a:pPr algn="ctr" indent="0" marL="0">
              <a:lnSpc>
                <a:spcPts val="3920"/>
              </a:lnSpc>
              <a:buNone/>
            </a:pPr>
            <a:r>
              <a:rPr lang="en-US" sz="2800" b="1" dirty="0">
                <a:solidFill>
                  <a:srgbClr val="14213D"/>
                </a:solidFill>
                <a:latin typeface="DM Sans" pitchFamily="34" charset="0"/>
                <a:ea typeface="DM Sans" pitchFamily="34" charset="-122"/>
                <a:cs typeface="DM Sans" pitchFamily="34" charset="-120"/>
              </a:rPr>
              <a:t>27</a:t>
            </a:r>
            <a:endParaRPr lang="en-US" sz="2800" dirty="0"/>
          </a:p>
        </p:txBody>
      </p:sp>
      <p:sp>
        <p:nvSpPr>
          <p:cNvPr id="8" name="Text 6"/>
          <p:cNvSpPr/>
          <p:nvPr/>
        </p:nvSpPr>
        <p:spPr>
          <a:xfrm>
            <a:off x="6092825" y="1680834"/>
            <a:ext cx="933450" cy="806450"/>
          </a:xfrm>
          <a:prstGeom prst="roundRect">
            <a:avLst>
              <a:gd name="adj" fmla="val 9843"/>
            </a:avLst>
          </a:prstGeom>
          <a:solidFill>
            <a:srgbClr val="F2994A"/>
          </a:solidFill>
          <a:ln w="19050">
            <a:solidFill>
              <a:srgbClr val="D9691E"/>
            </a:solidFill>
            <a:prstDash val="solid"/>
          </a:ln>
        </p:spPr>
        <p:txBody>
          <a:bodyPr wrap="square" lIns="0" tIns="0" rIns="0" bIns="0" rtlCol="0" anchor="ctr">
            <a:normAutofit/>
          </a:bodyPr>
          <a:lstStyle/>
          <a:p>
            <a:pPr algn="ctr" indent="0" marL="0">
              <a:lnSpc>
                <a:spcPts val="3920"/>
              </a:lnSpc>
              <a:buNone/>
            </a:pPr>
            <a:r>
              <a:rPr lang="en-US" sz="2800" b="1" dirty="0">
                <a:solidFill>
                  <a:srgbClr val="14213D"/>
                </a:solidFill>
                <a:latin typeface="DM Sans" pitchFamily="34" charset="0"/>
                <a:ea typeface="DM Sans" pitchFamily="34" charset="-122"/>
                <a:cs typeface="DM Sans" pitchFamily="34" charset="-120"/>
              </a:rPr>
              <a:t>38</a:t>
            </a:r>
            <a:endParaRPr lang="en-US" sz="2800" dirty="0"/>
          </a:p>
        </p:txBody>
      </p:sp>
      <p:sp>
        <p:nvSpPr>
          <p:cNvPr id="9" name="Text 7"/>
          <p:cNvSpPr/>
          <p:nvPr/>
        </p:nvSpPr>
        <p:spPr>
          <a:xfrm>
            <a:off x="7146925" y="1680834"/>
            <a:ext cx="933450" cy="806450"/>
          </a:xfrm>
          <a:prstGeom prst="roundRect">
            <a:avLst>
              <a:gd name="adj" fmla="val 9843"/>
            </a:avLst>
          </a:prstGeom>
          <a:solidFill>
            <a:srgbClr val="F2994A"/>
          </a:solidFill>
          <a:ln w="19050">
            <a:solidFill>
              <a:srgbClr val="D9691E"/>
            </a:solidFill>
            <a:prstDash val="solid"/>
          </a:ln>
        </p:spPr>
        <p:txBody>
          <a:bodyPr wrap="square" lIns="0" tIns="0" rIns="0" bIns="0" rtlCol="0" anchor="ctr">
            <a:normAutofit/>
          </a:bodyPr>
          <a:lstStyle/>
          <a:p>
            <a:pPr algn="ctr" indent="0" marL="0">
              <a:lnSpc>
                <a:spcPts val="3920"/>
              </a:lnSpc>
              <a:buNone/>
            </a:pPr>
            <a:r>
              <a:rPr lang="en-US" sz="2800" b="1" dirty="0">
                <a:solidFill>
                  <a:srgbClr val="14213D"/>
                </a:solidFill>
                <a:latin typeface="DM Sans" pitchFamily="34" charset="0"/>
                <a:ea typeface="DM Sans" pitchFamily="34" charset="-122"/>
                <a:cs typeface="DM Sans" pitchFamily="34" charset="-120"/>
              </a:rPr>
              <a:t>43</a:t>
            </a:r>
            <a:endParaRPr lang="en-US" sz="2800" dirty="0"/>
          </a:p>
        </p:txBody>
      </p:sp>
      <p:sp>
        <p:nvSpPr>
          <p:cNvPr id="10" name="Text 8"/>
          <p:cNvSpPr/>
          <p:nvPr/>
        </p:nvSpPr>
        <p:spPr>
          <a:xfrm>
            <a:off x="8201025" y="1680834"/>
            <a:ext cx="933450" cy="806450"/>
          </a:xfrm>
          <a:prstGeom prst="roundRect">
            <a:avLst>
              <a:gd name="adj" fmla="val 9843"/>
            </a:avLst>
          </a:prstGeom>
          <a:solidFill>
            <a:srgbClr val="F2994A"/>
          </a:solidFill>
          <a:ln w="19050">
            <a:solidFill>
              <a:srgbClr val="D9691E"/>
            </a:solidFill>
            <a:prstDash val="solid"/>
          </a:ln>
        </p:spPr>
        <p:txBody>
          <a:bodyPr wrap="square" lIns="0" tIns="0" rIns="0" bIns="0" rtlCol="0" anchor="ctr">
            <a:normAutofit/>
          </a:bodyPr>
          <a:lstStyle/>
          <a:p>
            <a:pPr algn="ctr" indent="0" marL="0">
              <a:lnSpc>
                <a:spcPts val="3920"/>
              </a:lnSpc>
              <a:buNone/>
            </a:pPr>
            <a:r>
              <a:rPr lang="en-US" sz="2800" b="1" dirty="0">
                <a:solidFill>
                  <a:srgbClr val="14213D"/>
                </a:solidFill>
                <a:latin typeface="DM Sans" pitchFamily="34" charset="0"/>
                <a:ea typeface="DM Sans" pitchFamily="34" charset="-122"/>
                <a:cs typeface="DM Sans" pitchFamily="34" charset="-120"/>
              </a:rPr>
              <a:t>82</a:t>
            </a:r>
            <a:endParaRPr lang="en-US" sz="2800" dirty="0"/>
          </a:p>
        </p:txBody>
      </p:sp>
      <p:sp>
        <p:nvSpPr>
          <p:cNvPr id="11" name="Shape 9"/>
          <p:cNvSpPr/>
          <p:nvPr/>
        </p:nvSpPr>
        <p:spPr>
          <a:xfrm>
            <a:off x="815975" y="2855584"/>
            <a:ext cx="3380317" cy="2120305"/>
          </a:xfrm>
          <a:prstGeom prst="roundRect">
            <a:avLst>
              <a:gd name="adj" fmla="val 4642"/>
            </a:avLst>
          </a:prstGeom>
          <a:solidFill>
            <a:srgbClr val="FFFFFF"/>
          </a:solidFill>
          <a:ln w="6350">
            <a:solidFill>
              <a:srgbClr val="D9DEE4"/>
            </a:solidFill>
            <a:prstDash val="solid"/>
          </a:ln>
        </p:spPr>
      </p:sp>
      <p:sp>
        <p:nvSpPr>
          <p:cNvPr id="12" name="Text 10"/>
          <p:cNvSpPr/>
          <p:nvPr/>
        </p:nvSpPr>
        <p:spPr>
          <a:xfrm>
            <a:off x="1071033" y="3110641"/>
            <a:ext cx="2956306"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4530F"/>
                </a:solidFill>
                <a:latin typeface="DM Sans" pitchFamily="34" charset="0"/>
                <a:ea typeface="DM Sans" pitchFamily="34" charset="-122"/>
                <a:cs typeface="DM Sans" pitchFamily="34" charset="-120"/>
              </a:rPr>
              <a:t>3</a:t>
            </a:r>
            <a:endParaRPr lang="en-US" sz="3600" dirty="0"/>
          </a:p>
        </p:txBody>
      </p:sp>
      <p:sp>
        <p:nvSpPr>
          <p:cNvPr id="13" name="Text 11"/>
          <p:cNvSpPr/>
          <p:nvPr/>
        </p:nvSpPr>
        <p:spPr>
          <a:xfrm>
            <a:off x="1071033" y="3715147"/>
            <a:ext cx="2956306"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DM Sans" pitchFamily="34" charset="0"/>
                <a:ea typeface="DM Sans" pitchFamily="34" charset="-122"/>
                <a:cs typeface="DM Sans" pitchFamily="34" charset="-120"/>
              </a:rPr>
              <a:t>Levels</a:t>
            </a:r>
            <a:endParaRPr lang="en-US" sz="2200" dirty="0"/>
          </a:p>
        </p:txBody>
      </p:sp>
      <p:sp>
        <p:nvSpPr>
          <p:cNvPr id="14" name="Text 12"/>
          <p:cNvSpPr/>
          <p:nvPr/>
        </p:nvSpPr>
        <p:spPr>
          <a:xfrm>
            <a:off x="1071033" y="4151976"/>
            <a:ext cx="2956306"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log₂ 8 = 3 rounds of splitting and merging.</a:t>
            </a:r>
            <a:endParaRPr lang="en-US" sz="1600" dirty="0"/>
          </a:p>
        </p:txBody>
      </p:sp>
      <p:sp>
        <p:nvSpPr>
          <p:cNvPr id="15" name="Shape 13"/>
          <p:cNvSpPr/>
          <p:nvPr/>
        </p:nvSpPr>
        <p:spPr>
          <a:xfrm>
            <a:off x="4405842" y="2855584"/>
            <a:ext cx="3380317" cy="2120305"/>
          </a:xfrm>
          <a:prstGeom prst="roundRect">
            <a:avLst>
              <a:gd name="adj" fmla="val 4642"/>
            </a:avLst>
          </a:prstGeom>
          <a:solidFill>
            <a:srgbClr val="FFFFFF"/>
          </a:solidFill>
          <a:ln w="6350">
            <a:solidFill>
              <a:srgbClr val="D9DEE4"/>
            </a:solidFill>
            <a:prstDash val="solid"/>
          </a:ln>
        </p:spPr>
      </p:sp>
      <p:sp>
        <p:nvSpPr>
          <p:cNvPr id="16" name="Text 14"/>
          <p:cNvSpPr/>
          <p:nvPr/>
        </p:nvSpPr>
        <p:spPr>
          <a:xfrm>
            <a:off x="4660900" y="3110641"/>
            <a:ext cx="2956306"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4530F"/>
                </a:solidFill>
                <a:latin typeface="DM Sans" pitchFamily="34" charset="0"/>
                <a:ea typeface="DM Sans" pitchFamily="34" charset="-122"/>
                <a:cs typeface="DM Sans" pitchFamily="34" charset="-120"/>
              </a:rPr>
              <a:t>8</a:t>
            </a:r>
            <a:endParaRPr lang="en-US" sz="3600" dirty="0"/>
          </a:p>
        </p:txBody>
      </p:sp>
      <p:sp>
        <p:nvSpPr>
          <p:cNvPr id="17" name="Text 15"/>
          <p:cNvSpPr/>
          <p:nvPr/>
        </p:nvSpPr>
        <p:spPr>
          <a:xfrm>
            <a:off x="4660900" y="3715147"/>
            <a:ext cx="2956306"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DM Sans" pitchFamily="34" charset="0"/>
                <a:ea typeface="DM Sans" pitchFamily="34" charset="-122"/>
                <a:cs typeface="DM Sans" pitchFamily="34" charset="-120"/>
              </a:rPr>
              <a:t>Work per level</a:t>
            </a:r>
            <a:endParaRPr lang="en-US" sz="2200" dirty="0"/>
          </a:p>
        </p:txBody>
      </p:sp>
      <p:sp>
        <p:nvSpPr>
          <p:cNvPr id="18" name="Text 16"/>
          <p:cNvSpPr/>
          <p:nvPr/>
        </p:nvSpPr>
        <p:spPr>
          <a:xfrm>
            <a:off x="4660900" y="4151976"/>
            <a:ext cx="2956306"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Each level merges all n = 8 elements once.</a:t>
            </a:r>
            <a:endParaRPr lang="en-US" sz="1600" dirty="0"/>
          </a:p>
        </p:txBody>
      </p:sp>
      <p:sp>
        <p:nvSpPr>
          <p:cNvPr id="19" name="Shape 17"/>
          <p:cNvSpPr/>
          <p:nvPr/>
        </p:nvSpPr>
        <p:spPr>
          <a:xfrm>
            <a:off x="7995709" y="2855584"/>
            <a:ext cx="3380317" cy="2120305"/>
          </a:xfrm>
          <a:prstGeom prst="roundRect">
            <a:avLst>
              <a:gd name="adj" fmla="val 4642"/>
            </a:avLst>
          </a:prstGeom>
          <a:solidFill>
            <a:srgbClr val="FFFFFF"/>
          </a:solidFill>
          <a:ln w="6350">
            <a:solidFill>
              <a:srgbClr val="D9DEE4"/>
            </a:solidFill>
            <a:prstDash val="solid"/>
          </a:ln>
        </p:spPr>
      </p:sp>
      <p:sp>
        <p:nvSpPr>
          <p:cNvPr id="20" name="Text 18"/>
          <p:cNvSpPr/>
          <p:nvPr/>
        </p:nvSpPr>
        <p:spPr>
          <a:xfrm>
            <a:off x="8250767" y="3110641"/>
            <a:ext cx="2956306"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4530F"/>
                </a:solidFill>
                <a:latin typeface="DM Sans" pitchFamily="34" charset="0"/>
                <a:ea typeface="DM Sans" pitchFamily="34" charset="-122"/>
                <a:cs typeface="DM Sans" pitchFamily="34" charset="-120"/>
              </a:rPr>
              <a:t>24</a:t>
            </a:r>
            <a:endParaRPr lang="en-US" sz="3600" dirty="0"/>
          </a:p>
        </p:txBody>
      </p:sp>
      <p:sp>
        <p:nvSpPr>
          <p:cNvPr id="21" name="Text 19"/>
          <p:cNvSpPr/>
          <p:nvPr/>
        </p:nvSpPr>
        <p:spPr>
          <a:xfrm>
            <a:off x="8250767" y="3715147"/>
            <a:ext cx="2956306"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DM Sans" pitchFamily="34" charset="0"/>
                <a:ea typeface="DM Sans" pitchFamily="34" charset="-122"/>
                <a:cs typeface="DM Sans" pitchFamily="34" charset="-120"/>
              </a:rPr>
              <a:t>Total effort</a:t>
            </a:r>
            <a:endParaRPr lang="en-US" sz="2200" dirty="0"/>
          </a:p>
        </p:txBody>
      </p:sp>
      <p:sp>
        <p:nvSpPr>
          <p:cNvPr id="22" name="Text 20"/>
          <p:cNvSpPr/>
          <p:nvPr/>
        </p:nvSpPr>
        <p:spPr>
          <a:xfrm>
            <a:off x="8250767" y="4151976"/>
            <a:ext cx="2956306"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About n log₂ n = 8 × 3 = 24 element moves.</a:t>
            </a:r>
            <a:endParaRPr lang="en-US" sz="160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Generated using Claude · Merge Sort · DAA</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Time and space complexity</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84009"/>
          <a:ext cx="10553700" cy="2196703"/>
        </p:xfrm>
        <a:graphic>
          <a:graphicData uri="http://schemas.openxmlformats.org/drawingml/2006/table">
            <a:tbl>
              <a:tblPr/>
              <a:tblGrid>
                <a:gridCol w="2321814"/>
                <a:gridCol w="2532888"/>
                <a:gridCol w="5698998"/>
              </a:tblGrid>
              <a:tr h="439341">
                <a:tc>
                  <a:txBody>
                    <a:bodyPr/>
                    <a:lstStyle/>
                    <a:p>
                      <a:pPr indent="0" marL="0">
                        <a:lnSpc>
                          <a:spcPts val="2240"/>
                        </a:lnSpc>
                        <a:buNone/>
                      </a:pPr>
                      <a:r>
                        <a:rPr lang="en-US" sz="1600" b="1" dirty="0">
                          <a:solidFill>
                            <a:srgbClr val="FBFBF8"/>
                          </a:solidFill>
                          <a:latin typeface="DM Sans" pitchFamily="34" charset="0"/>
                          <a:ea typeface="DM Sans" pitchFamily="34" charset="-122"/>
                          <a:cs typeface="DM Sans" pitchFamily="34" charset="-120"/>
                        </a:rPr>
                        <a:t>Measure</a:t>
                      </a:r>
                      <a:endParaRPr lang="en-US" sz="1600" dirty="0">
                        <a:latin typeface="DM Sans" charset="0"/>
                        <a:ea typeface="DM Sans" charset="0"/>
                        <a:cs typeface="DM Sans" charset="0"/>
                      </a:endParaRPr>
                    </a:p>
                  </a:txBody>
                  <a:tcPr marL="71120" marR="71120" marT="71120" marB="71120" anchor="t">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240"/>
                        </a:lnSpc>
                        <a:buNone/>
                      </a:pPr>
                      <a:r>
                        <a:rPr lang="en-US" sz="1600" b="1" dirty="0">
                          <a:solidFill>
                            <a:srgbClr val="FBFBF8"/>
                          </a:solidFill>
                          <a:latin typeface="DM Sans" pitchFamily="34" charset="0"/>
                          <a:ea typeface="DM Sans" pitchFamily="34" charset="-122"/>
                          <a:cs typeface="DM Sans" pitchFamily="34" charset="-120"/>
                        </a:rPr>
                        <a:t>Cost</a:t>
                      </a:r>
                      <a:endParaRPr lang="en-US" sz="1600" dirty="0">
                        <a:latin typeface="DM Sans" charset="0"/>
                        <a:ea typeface="DM Sans" charset="0"/>
                        <a:cs typeface="DM Sans" charset="0"/>
                      </a:endParaRPr>
                    </a:p>
                  </a:txBody>
                  <a:tcPr marL="71120" marR="71120" marT="71120" marB="7112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240"/>
                        </a:lnSpc>
                        <a:buNone/>
                      </a:pPr>
                      <a:r>
                        <a:rPr lang="en-US" sz="1600" b="1" dirty="0">
                          <a:solidFill>
                            <a:srgbClr val="FBFBF8"/>
                          </a:solidFill>
                          <a:latin typeface="DM Sans" pitchFamily="34" charset="0"/>
                          <a:ea typeface="DM Sans" pitchFamily="34" charset="-122"/>
                          <a:cs typeface="DM Sans" pitchFamily="34" charset="-120"/>
                        </a:rPr>
                        <a:t>Why</a:t>
                      </a:r>
                      <a:endParaRPr lang="en-US" sz="1600" dirty="0">
                        <a:latin typeface="DM Sans" charset="0"/>
                        <a:ea typeface="DM Sans" charset="0"/>
                        <a:cs typeface="DM Sans" charset="0"/>
                      </a:endParaRPr>
                    </a:p>
                  </a:txBody>
                  <a:tcPr marL="71120" marR="71120" marT="71120" marB="7112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39341">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Best case</a:t>
                      </a:r>
                      <a:endParaRPr lang="en-US" sz="1600" dirty="0">
                        <a:latin typeface="DM Sans" charset="0"/>
                        <a:ea typeface="DM Sans" charset="0"/>
                        <a:cs typeface="DM Sans" charset="0"/>
                      </a:endParaRPr>
                    </a:p>
                  </a:txBody>
                  <a:tcPr marL="71120" marR="71120" marT="71120" marB="7112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O(n log n)</a:t>
                      </a:r>
                      <a:endParaRPr lang="en-US" sz="1600" dirty="0">
                        <a:latin typeface="DM Sans" charset="0"/>
                        <a:ea typeface="DM Sans" charset="0"/>
                        <a:cs typeface="DM Sans" charset="0"/>
                      </a:endParaRPr>
                    </a:p>
                  </a:txBody>
                  <a:tcPr marL="71120" marR="71120" marT="71120" marB="7112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It still splits and merges at every level</a:t>
                      </a:r>
                      <a:endParaRPr lang="en-US" sz="1600" dirty="0">
                        <a:latin typeface="DM Sans" charset="0"/>
                        <a:ea typeface="DM Sans" charset="0"/>
                        <a:cs typeface="DM Sans" charset="0"/>
                      </a:endParaRPr>
                    </a:p>
                  </a:txBody>
                  <a:tcPr marL="71120" marR="71120" marT="71120" marB="7112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439341">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Average case</a:t>
                      </a:r>
                      <a:endParaRPr lang="en-US" sz="1600" dirty="0">
                        <a:latin typeface="DM Sans" charset="0"/>
                        <a:ea typeface="DM Sans" charset="0"/>
                        <a:cs typeface="DM Sans" charset="0"/>
                      </a:endParaRPr>
                    </a:p>
                  </a:txBody>
                  <a:tcPr marL="71120" marR="71120" marT="71120" marB="71120" anchor="t">
                    <a:lnL w="12700" cap="flat" cmpd="sng" algn="ctr">
                      <a:solidFill>
                        <a:srgbClr val="C8C8C6"/>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O(n log n)</a:t>
                      </a:r>
                      <a:endParaRPr lang="en-US" sz="1600" dirty="0">
                        <a:latin typeface="DM Sans" charset="0"/>
                        <a:ea typeface="DM Sans" charset="0"/>
                        <a:cs typeface="DM Sans" charset="0"/>
                      </a:endParaRPr>
                    </a:p>
                  </a:txBody>
                  <a:tcPr marL="71120" marR="71120" marT="71120" marB="7112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log n levels, about n work per level</a:t>
                      </a:r>
                      <a:endParaRPr lang="en-US" sz="1600" dirty="0">
                        <a:latin typeface="DM Sans" charset="0"/>
                        <a:ea typeface="DM Sans" charset="0"/>
                        <a:cs typeface="DM Sans" charset="0"/>
                      </a:endParaRPr>
                    </a:p>
                  </a:txBody>
                  <a:tcPr marL="71120" marR="71120" marT="71120" marB="7112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r>
              <a:tr h="439341">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Worst case</a:t>
                      </a:r>
                      <a:endParaRPr lang="en-US" sz="1600" dirty="0">
                        <a:latin typeface="DM Sans" charset="0"/>
                        <a:ea typeface="DM Sans" charset="0"/>
                        <a:cs typeface="DM Sans" charset="0"/>
                      </a:endParaRPr>
                    </a:p>
                  </a:txBody>
                  <a:tcPr marL="71120" marR="71120" marT="71120" marB="7112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O(n log n)</a:t>
                      </a:r>
                      <a:endParaRPr lang="en-US" sz="1600" dirty="0">
                        <a:latin typeface="DM Sans" charset="0"/>
                        <a:ea typeface="DM Sans" charset="0"/>
                        <a:cs typeface="DM Sans" charset="0"/>
                      </a:endParaRPr>
                    </a:p>
                  </a:txBody>
                  <a:tcPr marL="71120" marR="71120" marT="71120" marB="7112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The input order never changes the split</a:t>
                      </a:r>
                      <a:endParaRPr lang="en-US" sz="1600" dirty="0">
                        <a:latin typeface="DM Sans" charset="0"/>
                        <a:ea typeface="DM Sans" charset="0"/>
                        <a:cs typeface="DM Sans" charset="0"/>
                      </a:endParaRPr>
                    </a:p>
                  </a:txBody>
                  <a:tcPr marL="71120" marR="71120" marT="71120" marB="7112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439341">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Extra space</a:t>
                      </a:r>
                      <a:endParaRPr lang="en-US" sz="1600" dirty="0">
                        <a:latin typeface="DM Sans" charset="0"/>
                        <a:ea typeface="DM Sans" charset="0"/>
                        <a:cs typeface="DM Sans" charset="0"/>
                      </a:endParaRPr>
                    </a:p>
                  </a:txBody>
                  <a:tcPr marL="71120" marR="71120" marT="71120" marB="71120" anchor="t">
                    <a:lnL w="12700" cap="flat" cmpd="sng" algn="ctr">
                      <a:solidFill>
                        <a:srgbClr val="C8C8C6"/>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O(n)</a:t>
                      </a:r>
                      <a:endParaRPr lang="en-US" sz="1600" dirty="0">
                        <a:latin typeface="DM Sans" charset="0"/>
                        <a:ea typeface="DM Sans" charset="0"/>
                        <a:cs typeface="DM Sans" charset="0"/>
                      </a:endParaRPr>
                    </a:p>
                  </a:txBody>
                  <a:tcPr marL="71120" marR="71120" marT="71120" marB="7112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Temporary arrays hold the halves while merging</a:t>
                      </a:r>
                      <a:endParaRPr lang="en-US" sz="1600" dirty="0">
                        <a:latin typeface="DM Sans" charset="0"/>
                        <a:ea typeface="DM Sans" charset="0"/>
                        <a:cs typeface="DM Sans" charset="0"/>
                      </a:endParaRPr>
                    </a:p>
                  </a:txBody>
                  <a:tcPr marL="71120" marR="71120" marT="71120" marB="7112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r>
            </a:tbl>
          </a:graphicData>
        </a:graphic>
      </p:graphicFrame>
      <p:sp>
        <p:nvSpPr>
          <p:cNvPr id="4" name="Text 1"/>
          <p:cNvSpPr/>
          <p:nvPr/>
        </p:nvSpPr>
        <p:spPr>
          <a:xfrm>
            <a:off x="812800" y="4236312"/>
            <a:ext cx="10566400" cy="816570"/>
          </a:xfrm>
          <a:prstGeom prst="roundRect">
            <a:avLst>
              <a:gd name="adj" fmla="val 12442"/>
            </a:avLst>
          </a:prstGeom>
          <a:solidFill>
            <a:srgbClr val="14213D"/>
          </a:solidFill>
          <a:ln/>
        </p:spPr>
        <p:txBody>
          <a:bodyPr wrap="square" lIns="275042" tIns="224242" rIns="0" bIns="198842" rtlCol="0" anchor="t">
            <a:normAutofit/>
          </a:bodyPr>
          <a:lstStyle/>
          <a:p>
            <a:pPr algn="l" indent="0" marL="0">
              <a:lnSpc>
                <a:spcPts val="2430"/>
              </a:lnSpc>
              <a:buNone/>
            </a:pPr>
            <a:r>
              <a:rPr lang="en-US" sz="1800" dirty="0">
                <a:solidFill>
                  <a:srgbClr val="FBFBF8"/>
                </a:solidFill>
                <a:latin typeface="DM Sans" pitchFamily="34" charset="0"/>
                <a:ea typeface="DM Sans" pitchFamily="34" charset="-122"/>
                <a:cs typeface="DM Sans" pitchFamily="34" charset="-120"/>
              </a:rPr>
              <a:t>Recurrence: T(n) = 2T(n/2) + O(n), which solves to O(n log n).</a:t>
            </a:r>
            <a:endParaRPr lang="en-US" sz="1800" dirty="0"/>
          </a:p>
        </p:txBody>
      </p:sp>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Generated using Claude · Merge Sort · DAA</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BFBF8"/>
                </a:solidFill>
                <a:latin typeface="DM Sans" pitchFamily="34" charset="0"/>
                <a:ea typeface="DM Sans" pitchFamily="34" charset="-122"/>
                <a:cs typeface="DM Sans" pitchFamily="34" charset="-120"/>
              </a:rPr>
              <a:t>Pseudocode</a:t>
            </a:r>
            <a:endParaRPr lang="en-US" sz="3600" dirty="0"/>
          </a:p>
        </p:txBody>
      </p:sp>
      <p:sp>
        <p:nvSpPr>
          <p:cNvPr id="3" name="Shape 1"/>
          <p:cNvSpPr/>
          <p:nvPr/>
        </p:nvSpPr>
        <p:spPr>
          <a:xfrm>
            <a:off x="812800" y="1620509"/>
            <a:ext cx="6731000" cy="3817276"/>
          </a:xfrm>
          <a:prstGeom prst="roundRect">
            <a:avLst>
              <a:gd name="adj" fmla="val 2662"/>
            </a:avLst>
          </a:prstGeom>
          <a:solidFill>
            <a:srgbClr val="0C1730"/>
          </a:solidFill>
          <a:ln/>
        </p:spPr>
      </p:sp>
      <p:sp>
        <p:nvSpPr>
          <p:cNvPr id="4" name="Text 2"/>
          <p:cNvSpPr/>
          <p:nvPr/>
        </p:nvSpPr>
        <p:spPr>
          <a:xfrm>
            <a:off x="1066800" y="1874509"/>
            <a:ext cx="6409690" cy="256514"/>
          </a:xfrm>
          <a:prstGeom prst="rect">
            <a:avLst/>
          </a:prstGeom>
          <a:noFill/>
          <a:ln/>
        </p:spPr>
        <p:txBody>
          <a:bodyPr wrap="none" lIns="0" tIns="0" rIns="0" bIns="0" rtlCol="0" anchor="t">
            <a:normAutofit/>
          </a:bodyPr>
          <a:lstStyle/>
          <a:p>
            <a:pPr algn="l" indent="0" marL="0">
              <a:lnSpc>
                <a:spcPts val="1820"/>
              </a:lnSpc>
              <a:buNone/>
            </a:pPr>
            <a:r>
              <a:rPr lang="en-US" sz="1300" dirty="0">
                <a:solidFill>
                  <a:srgbClr val="E8EDF5"/>
                </a:solidFill>
                <a:latin typeface="JetBrains Mono" pitchFamily="49" charset="0"/>
                <a:ea typeface="JetBrains Mono" pitchFamily="49" charset="-122"/>
                <a:cs typeface="JetBrains Mono" pitchFamily="49" charset="-120"/>
              </a:rPr>
              <a:t>MERGE-SORT(A, lo, hi):</a:t>
            </a:r>
            <a:endParaRPr lang="en-US" sz="1300" dirty="0"/>
          </a:p>
        </p:txBody>
      </p:sp>
      <p:sp>
        <p:nvSpPr>
          <p:cNvPr id="5" name="Text 3"/>
          <p:cNvSpPr/>
          <p:nvPr/>
        </p:nvSpPr>
        <p:spPr>
          <a:xfrm>
            <a:off x="1066800" y="2131020"/>
            <a:ext cx="6409690" cy="256514"/>
          </a:xfrm>
          <a:prstGeom prst="rect">
            <a:avLst/>
          </a:prstGeom>
          <a:noFill/>
          <a:ln/>
        </p:spPr>
        <p:txBody>
          <a:bodyPr wrap="none" lIns="0" tIns="0" rIns="0" bIns="0" rtlCol="0" anchor="t">
            <a:normAutofit/>
          </a:bodyPr>
          <a:lstStyle/>
          <a:p>
            <a:pPr algn="l" indent="0" marL="0">
              <a:lnSpc>
                <a:spcPts val="1820"/>
              </a:lnSpc>
              <a:buNone/>
            </a:pPr>
            <a:r>
              <a:rPr lang="en-US" sz="1300" dirty="0">
                <a:solidFill>
                  <a:srgbClr val="E8EDF5"/>
                </a:solidFill>
                <a:latin typeface="JetBrains Mono" pitchFamily="49" charset="0"/>
                <a:ea typeface="JetBrains Mono" pitchFamily="49" charset="-122"/>
                <a:cs typeface="JetBrains Mono" pitchFamily="49" charset="-120"/>
              </a:rPr>
              <a:t>  </a:t>
            </a:r>
            <a:r>
              <a:rPr lang="en-US" sz="1300" dirty="0">
                <a:solidFill>
                  <a:srgbClr val="F2A65A"/>
                </a:solidFill>
                <a:latin typeface="JetBrains Mono" pitchFamily="49" charset="0"/>
                <a:ea typeface="JetBrains Mono" pitchFamily="49" charset="-122"/>
                <a:cs typeface="JetBrains Mono" pitchFamily="49" charset="-120"/>
              </a:rPr>
              <a:t>if</a:t>
            </a:r>
            <a:r>
              <a:rPr lang="en-US" sz="1300" dirty="0">
                <a:solidFill>
                  <a:srgbClr val="E8EDF5"/>
                </a:solidFill>
                <a:latin typeface="JetBrains Mono" pitchFamily="49" charset="0"/>
                <a:ea typeface="JetBrains Mono" pitchFamily="49" charset="-122"/>
                <a:cs typeface="JetBrains Mono" pitchFamily="49" charset="-120"/>
              </a:rPr>
              <a:t> lo ≥ hi: </a:t>
            </a:r>
            <a:r>
              <a:rPr lang="en-US" sz="1300" dirty="0">
                <a:solidFill>
                  <a:srgbClr val="F2A65A"/>
                </a:solidFill>
                <a:latin typeface="JetBrains Mono" pitchFamily="49" charset="0"/>
                <a:ea typeface="JetBrains Mono" pitchFamily="49" charset="-122"/>
                <a:cs typeface="JetBrains Mono" pitchFamily="49" charset="-120"/>
              </a:rPr>
              <a:t>return</a:t>
            </a:r>
            <a:endParaRPr lang="en-US" sz="1300" dirty="0"/>
          </a:p>
        </p:txBody>
      </p:sp>
      <p:sp>
        <p:nvSpPr>
          <p:cNvPr id="6" name="Text 4"/>
          <p:cNvSpPr/>
          <p:nvPr/>
        </p:nvSpPr>
        <p:spPr>
          <a:xfrm>
            <a:off x="1066800" y="2387538"/>
            <a:ext cx="6409690" cy="256514"/>
          </a:xfrm>
          <a:prstGeom prst="rect">
            <a:avLst/>
          </a:prstGeom>
          <a:noFill/>
          <a:ln/>
        </p:spPr>
        <p:txBody>
          <a:bodyPr wrap="none" lIns="0" tIns="0" rIns="0" bIns="0" rtlCol="0" anchor="t">
            <a:normAutofit/>
          </a:bodyPr>
          <a:lstStyle/>
          <a:p>
            <a:pPr algn="l" indent="0" marL="0">
              <a:lnSpc>
                <a:spcPts val="1820"/>
              </a:lnSpc>
              <a:buNone/>
            </a:pPr>
            <a:r>
              <a:rPr lang="en-US" sz="1300" dirty="0">
                <a:solidFill>
                  <a:srgbClr val="E8EDF5"/>
                </a:solidFill>
                <a:latin typeface="JetBrains Mono" pitchFamily="49" charset="0"/>
                <a:ea typeface="JetBrains Mono" pitchFamily="49" charset="-122"/>
                <a:cs typeface="JetBrains Mono" pitchFamily="49" charset="-120"/>
              </a:rPr>
              <a:t>  mid ← ⌊(lo + hi) / 2⌋</a:t>
            </a:r>
            <a:endParaRPr lang="en-US" sz="1300" dirty="0"/>
          </a:p>
        </p:txBody>
      </p:sp>
      <p:sp>
        <p:nvSpPr>
          <p:cNvPr id="7" name="Text 5"/>
          <p:cNvSpPr/>
          <p:nvPr/>
        </p:nvSpPr>
        <p:spPr>
          <a:xfrm>
            <a:off x="1066800" y="2644049"/>
            <a:ext cx="6409690" cy="256514"/>
          </a:xfrm>
          <a:prstGeom prst="rect">
            <a:avLst/>
          </a:prstGeom>
          <a:noFill/>
          <a:ln/>
        </p:spPr>
        <p:txBody>
          <a:bodyPr wrap="none" lIns="0" tIns="0" rIns="0" bIns="0" rtlCol="0" anchor="t">
            <a:normAutofit/>
          </a:bodyPr>
          <a:lstStyle/>
          <a:p>
            <a:pPr algn="l" indent="0" marL="0">
              <a:lnSpc>
                <a:spcPts val="1820"/>
              </a:lnSpc>
              <a:buNone/>
            </a:pPr>
            <a:r>
              <a:rPr lang="en-US" sz="1300" dirty="0">
                <a:solidFill>
                  <a:srgbClr val="E8EDF5"/>
                </a:solidFill>
                <a:latin typeface="JetBrains Mono" pitchFamily="49" charset="0"/>
                <a:ea typeface="JetBrains Mono" pitchFamily="49" charset="-122"/>
                <a:cs typeface="JetBrains Mono" pitchFamily="49" charset="-120"/>
              </a:rPr>
              <a:t>  MERGE-SORT(A, lo, mid)</a:t>
            </a:r>
            <a:endParaRPr lang="en-US" sz="1300" dirty="0"/>
          </a:p>
        </p:txBody>
      </p:sp>
      <p:sp>
        <p:nvSpPr>
          <p:cNvPr id="8" name="Text 6"/>
          <p:cNvSpPr/>
          <p:nvPr/>
        </p:nvSpPr>
        <p:spPr>
          <a:xfrm>
            <a:off x="1066800" y="2900561"/>
            <a:ext cx="6409690" cy="256514"/>
          </a:xfrm>
          <a:prstGeom prst="rect">
            <a:avLst/>
          </a:prstGeom>
          <a:noFill/>
          <a:ln/>
        </p:spPr>
        <p:txBody>
          <a:bodyPr wrap="none" lIns="0" tIns="0" rIns="0" bIns="0" rtlCol="0" anchor="t">
            <a:normAutofit/>
          </a:bodyPr>
          <a:lstStyle/>
          <a:p>
            <a:pPr algn="l" indent="0" marL="0">
              <a:lnSpc>
                <a:spcPts val="1820"/>
              </a:lnSpc>
              <a:buNone/>
            </a:pPr>
            <a:r>
              <a:rPr lang="en-US" sz="1300" dirty="0">
                <a:solidFill>
                  <a:srgbClr val="E8EDF5"/>
                </a:solidFill>
                <a:latin typeface="JetBrains Mono" pitchFamily="49" charset="0"/>
                <a:ea typeface="JetBrains Mono" pitchFamily="49" charset="-122"/>
                <a:cs typeface="JetBrains Mono" pitchFamily="49" charset="-120"/>
              </a:rPr>
              <a:t>  MERGE-SORT(A, mid + 1, hi)</a:t>
            </a:r>
            <a:endParaRPr lang="en-US" sz="1300" dirty="0"/>
          </a:p>
        </p:txBody>
      </p:sp>
      <p:sp>
        <p:nvSpPr>
          <p:cNvPr id="9" name="Text 7"/>
          <p:cNvSpPr/>
          <p:nvPr/>
        </p:nvSpPr>
        <p:spPr>
          <a:xfrm>
            <a:off x="1066800" y="3157079"/>
            <a:ext cx="6409690" cy="256514"/>
          </a:xfrm>
          <a:prstGeom prst="rect">
            <a:avLst/>
          </a:prstGeom>
          <a:noFill/>
          <a:ln/>
        </p:spPr>
        <p:txBody>
          <a:bodyPr wrap="none" lIns="0" tIns="0" rIns="0" bIns="0" rtlCol="0" anchor="t">
            <a:normAutofit/>
          </a:bodyPr>
          <a:lstStyle/>
          <a:p>
            <a:pPr algn="l" indent="0" marL="0">
              <a:lnSpc>
                <a:spcPts val="1820"/>
              </a:lnSpc>
              <a:buNone/>
            </a:pPr>
            <a:r>
              <a:rPr lang="en-US" sz="1300" dirty="0">
                <a:solidFill>
                  <a:srgbClr val="E8EDF5"/>
                </a:solidFill>
                <a:latin typeface="JetBrains Mono" pitchFamily="49" charset="0"/>
                <a:ea typeface="JetBrains Mono" pitchFamily="49" charset="-122"/>
                <a:cs typeface="JetBrains Mono" pitchFamily="49" charset="-120"/>
              </a:rPr>
              <a:t>  MERGE(A, lo, mid, hi)</a:t>
            </a:r>
            <a:endParaRPr lang="en-US" sz="1300" dirty="0"/>
          </a:p>
        </p:txBody>
      </p:sp>
      <p:sp>
        <p:nvSpPr>
          <p:cNvPr id="10" name="Text 8"/>
          <p:cNvSpPr/>
          <p:nvPr/>
        </p:nvSpPr>
        <p:spPr>
          <a:xfrm>
            <a:off x="1066800" y="3413590"/>
            <a:ext cx="6409690" cy="256514"/>
          </a:xfrm>
          <a:prstGeom prst="rect">
            <a:avLst/>
          </a:prstGeom>
          <a:noFill/>
          <a:ln/>
        </p:spPr>
        <p:txBody>
          <a:bodyPr wrap="none" lIns="0" tIns="0" rIns="0" bIns="0" rtlCol="0" anchor="t">
            <a:normAutofit/>
          </a:bodyPr>
          <a:lstStyle/>
          <a:p>
            <a:pPr algn="l" indent="0" marL="0">
              <a:lnSpc>
                <a:spcPts val="1820"/>
              </a:lnSpc>
              <a:buNone/>
            </a:pPr>
            <a:r>
              <a:rPr lang="en-US" sz="1300" dirty="0">
                <a:solidFill>
                  <a:srgbClr val="E8EDF5"/>
                </a:solidFill>
                <a:latin typeface="JetBrains Mono" pitchFamily="49" charset="0"/>
                <a:ea typeface="JetBrains Mono" pitchFamily="49" charset="-122"/>
                <a:cs typeface="JetBrains Mono" pitchFamily="49" charset="-120"/>
              </a:rPr>
              <a:t>MERGE(A, lo, mid, hi):</a:t>
            </a:r>
            <a:endParaRPr lang="en-US" sz="1300" dirty="0"/>
          </a:p>
        </p:txBody>
      </p:sp>
      <p:sp>
        <p:nvSpPr>
          <p:cNvPr id="11" name="Text 9"/>
          <p:cNvSpPr/>
          <p:nvPr/>
        </p:nvSpPr>
        <p:spPr>
          <a:xfrm>
            <a:off x="1066800" y="3670102"/>
            <a:ext cx="6409690" cy="256514"/>
          </a:xfrm>
          <a:prstGeom prst="rect">
            <a:avLst/>
          </a:prstGeom>
          <a:noFill/>
          <a:ln/>
        </p:spPr>
        <p:txBody>
          <a:bodyPr wrap="none" lIns="0" tIns="0" rIns="0" bIns="0" rtlCol="0" anchor="t">
            <a:normAutofit/>
          </a:bodyPr>
          <a:lstStyle/>
          <a:p>
            <a:pPr algn="l" indent="0" marL="0">
              <a:lnSpc>
                <a:spcPts val="1820"/>
              </a:lnSpc>
              <a:buNone/>
            </a:pPr>
            <a:r>
              <a:rPr lang="en-US" sz="1300" dirty="0">
                <a:solidFill>
                  <a:srgbClr val="E8EDF5"/>
                </a:solidFill>
                <a:latin typeface="JetBrains Mono" pitchFamily="49" charset="0"/>
                <a:ea typeface="JetBrains Mono" pitchFamily="49" charset="-122"/>
                <a:cs typeface="JetBrains Mono" pitchFamily="49" charset="-120"/>
              </a:rPr>
              <a:t>  L ← copy of A[lo..mid];  R ← copy of A[mid+1..hi]</a:t>
            </a:r>
            <a:endParaRPr lang="en-US" sz="1300" dirty="0"/>
          </a:p>
        </p:txBody>
      </p:sp>
      <p:sp>
        <p:nvSpPr>
          <p:cNvPr id="12" name="Text 10"/>
          <p:cNvSpPr/>
          <p:nvPr/>
        </p:nvSpPr>
        <p:spPr>
          <a:xfrm>
            <a:off x="1066800" y="3926619"/>
            <a:ext cx="6409690" cy="256514"/>
          </a:xfrm>
          <a:prstGeom prst="rect">
            <a:avLst/>
          </a:prstGeom>
          <a:noFill/>
          <a:ln/>
        </p:spPr>
        <p:txBody>
          <a:bodyPr wrap="none" lIns="0" tIns="0" rIns="0" bIns="0" rtlCol="0" anchor="t">
            <a:normAutofit/>
          </a:bodyPr>
          <a:lstStyle/>
          <a:p>
            <a:pPr algn="l" indent="0" marL="0">
              <a:lnSpc>
                <a:spcPts val="1820"/>
              </a:lnSpc>
              <a:buNone/>
            </a:pPr>
            <a:r>
              <a:rPr lang="en-US" sz="1300" dirty="0">
                <a:solidFill>
                  <a:srgbClr val="E8EDF5"/>
                </a:solidFill>
                <a:latin typeface="JetBrains Mono" pitchFamily="49" charset="0"/>
                <a:ea typeface="JetBrains Mono" pitchFamily="49" charset="-122"/>
                <a:cs typeface="JetBrains Mono" pitchFamily="49" charset="-120"/>
              </a:rPr>
              <a:t>  i ← 0;  j ← 0;  k ← lo</a:t>
            </a:r>
            <a:endParaRPr lang="en-US" sz="1300" dirty="0"/>
          </a:p>
        </p:txBody>
      </p:sp>
      <p:sp>
        <p:nvSpPr>
          <p:cNvPr id="13" name="Text 11"/>
          <p:cNvSpPr/>
          <p:nvPr/>
        </p:nvSpPr>
        <p:spPr>
          <a:xfrm>
            <a:off x="1066800" y="4183131"/>
            <a:ext cx="6409690" cy="256514"/>
          </a:xfrm>
          <a:prstGeom prst="rect">
            <a:avLst/>
          </a:prstGeom>
          <a:noFill/>
          <a:ln/>
        </p:spPr>
        <p:txBody>
          <a:bodyPr wrap="none" lIns="0" tIns="0" rIns="0" bIns="0" rtlCol="0" anchor="t">
            <a:normAutofit/>
          </a:bodyPr>
          <a:lstStyle/>
          <a:p>
            <a:pPr algn="l" indent="0" marL="0">
              <a:lnSpc>
                <a:spcPts val="1820"/>
              </a:lnSpc>
              <a:buNone/>
            </a:pPr>
            <a:r>
              <a:rPr lang="en-US" sz="1300" dirty="0">
                <a:solidFill>
                  <a:srgbClr val="E8EDF5"/>
                </a:solidFill>
                <a:latin typeface="JetBrains Mono" pitchFamily="49" charset="0"/>
                <a:ea typeface="JetBrains Mono" pitchFamily="49" charset="-122"/>
                <a:cs typeface="JetBrains Mono" pitchFamily="49" charset="-120"/>
              </a:rPr>
              <a:t>  </a:t>
            </a:r>
            <a:r>
              <a:rPr lang="en-US" sz="1300" dirty="0">
                <a:solidFill>
                  <a:srgbClr val="F2A65A"/>
                </a:solidFill>
                <a:latin typeface="JetBrains Mono" pitchFamily="49" charset="0"/>
                <a:ea typeface="JetBrains Mono" pitchFamily="49" charset="-122"/>
                <a:cs typeface="JetBrains Mono" pitchFamily="49" charset="-120"/>
              </a:rPr>
              <a:t>while</a:t>
            </a:r>
            <a:r>
              <a:rPr lang="en-US" sz="1300" dirty="0">
                <a:solidFill>
                  <a:srgbClr val="E8EDF5"/>
                </a:solidFill>
                <a:latin typeface="JetBrains Mono" pitchFamily="49" charset="0"/>
                <a:ea typeface="JetBrains Mono" pitchFamily="49" charset="-122"/>
                <a:cs typeface="JetBrains Mono" pitchFamily="49" charset="-120"/>
              </a:rPr>
              <a:t> i &lt; |L| and j &lt; |R|:</a:t>
            </a:r>
            <a:endParaRPr lang="en-US" sz="1300" dirty="0"/>
          </a:p>
        </p:txBody>
      </p:sp>
      <p:sp>
        <p:nvSpPr>
          <p:cNvPr id="14" name="Text 12"/>
          <p:cNvSpPr/>
          <p:nvPr/>
        </p:nvSpPr>
        <p:spPr>
          <a:xfrm>
            <a:off x="1066800" y="4439642"/>
            <a:ext cx="6409690" cy="256514"/>
          </a:xfrm>
          <a:prstGeom prst="rect">
            <a:avLst/>
          </a:prstGeom>
          <a:noFill/>
          <a:ln/>
        </p:spPr>
        <p:txBody>
          <a:bodyPr wrap="none" lIns="0" tIns="0" rIns="0" bIns="0" rtlCol="0" anchor="t">
            <a:normAutofit/>
          </a:bodyPr>
          <a:lstStyle/>
          <a:p>
            <a:pPr algn="l" indent="0" marL="0">
              <a:lnSpc>
                <a:spcPts val="1820"/>
              </a:lnSpc>
              <a:buNone/>
            </a:pPr>
            <a:r>
              <a:rPr lang="en-US" sz="1300" dirty="0">
                <a:solidFill>
                  <a:srgbClr val="E8EDF5"/>
                </a:solidFill>
                <a:latin typeface="JetBrains Mono" pitchFamily="49" charset="0"/>
                <a:ea typeface="JetBrains Mono" pitchFamily="49" charset="-122"/>
                <a:cs typeface="JetBrains Mono" pitchFamily="49" charset="-120"/>
              </a:rPr>
              <a:t>    </a:t>
            </a:r>
            <a:r>
              <a:rPr lang="en-US" sz="1300" dirty="0">
                <a:solidFill>
                  <a:srgbClr val="F2A65A"/>
                </a:solidFill>
                <a:latin typeface="JetBrains Mono" pitchFamily="49" charset="0"/>
                <a:ea typeface="JetBrains Mono" pitchFamily="49" charset="-122"/>
                <a:cs typeface="JetBrains Mono" pitchFamily="49" charset="-120"/>
              </a:rPr>
              <a:t>if</a:t>
            </a:r>
            <a:r>
              <a:rPr lang="en-US" sz="1300" dirty="0">
                <a:solidFill>
                  <a:srgbClr val="E8EDF5"/>
                </a:solidFill>
                <a:latin typeface="JetBrains Mono" pitchFamily="49" charset="0"/>
                <a:ea typeface="JetBrains Mono" pitchFamily="49" charset="-122"/>
                <a:cs typeface="JetBrains Mono" pitchFamily="49" charset="-120"/>
              </a:rPr>
              <a:t> L[i] ≤ R[j]: A[k++] ← L[i++]</a:t>
            </a:r>
            <a:endParaRPr lang="en-US" sz="1300" dirty="0"/>
          </a:p>
        </p:txBody>
      </p:sp>
      <p:sp>
        <p:nvSpPr>
          <p:cNvPr id="15" name="Text 13"/>
          <p:cNvSpPr/>
          <p:nvPr/>
        </p:nvSpPr>
        <p:spPr>
          <a:xfrm>
            <a:off x="1066800" y="4696160"/>
            <a:ext cx="6409690" cy="256514"/>
          </a:xfrm>
          <a:prstGeom prst="rect">
            <a:avLst/>
          </a:prstGeom>
          <a:noFill/>
          <a:ln/>
        </p:spPr>
        <p:txBody>
          <a:bodyPr wrap="none" lIns="0" tIns="0" rIns="0" bIns="0" rtlCol="0" anchor="t">
            <a:normAutofit/>
          </a:bodyPr>
          <a:lstStyle/>
          <a:p>
            <a:pPr algn="l" indent="0" marL="0">
              <a:lnSpc>
                <a:spcPts val="1820"/>
              </a:lnSpc>
              <a:buNone/>
            </a:pPr>
            <a:r>
              <a:rPr lang="en-US" sz="1300" dirty="0">
                <a:solidFill>
                  <a:srgbClr val="E8EDF5"/>
                </a:solidFill>
                <a:latin typeface="JetBrains Mono" pitchFamily="49" charset="0"/>
                <a:ea typeface="JetBrains Mono" pitchFamily="49" charset="-122"/>
                <a:cs typeface="JetBrains Mono" pitchFamily="49" charset="-120"/>
              </a:rPr>
              <a:t>    </a:t>
            </a:r>
            <a:r>
              <a:rPr lang="en-US" sz="1300" dirty="0">
                <a:solidFill>
                  <a:srgbClr val="F2A65A"/>
                </a:solidFill>
                <a:latin typeface="JetBrains Mono" pitchFamily="49" charset="0"/>
                <a:ea typeface="JetBrains Mono" pitchFamily="49" charset="-122"/>
                <a:cs typeface="JetBrains Mono" pitchFamily="49" charset="-120"/>
              </a:rPr>
              <a:t>else</a:t>
            </a:r>
            <a:r>
              <a:rPr lang="en-US" sz="1300" dirty="0">
                <a:solidFill>
                  <a:srgbClr val="E8EDF5"/>
                </a:solidFill>
                <a:latin typeface="JetBrains Mono" pitchFamily="49" charset="0"/>
                <a:ea typeface="JetBrains Mono" pitchFamily="49" charset="-122"/>
                <a:cs typeface="JetBrains Mono" pitchFamily="49" charset="-120"/>
              </a:rPr>
              <a:t>: A[k++] ← R[j++]</a:t>
            </a:r>
            <a:endParaRPr lang="en-US" sz="1300" dirty="0"/>
          </a:p>
        </p:txBody>
      </p:sp>
      <p:sp>
        <p:nvSpPr>
          <p:cNvPr id="16" name="Text 14"/>
          <p:cNvSpPr/>
          <p:nvPr/>
        </p:nvSpPr>
        <p:spPr>
          <a:xfrm>
            <a:off x="1066800" y="4952671"/>
            <a:ext cx="6409690" cy="256514"/>
          </a:xfrm>
          <a:prstGeom prst="rect">
            <a:avLst/>
          </a:prstGeom>
          <a:noFill/>
          <a:ln/>
        </p:spPr>
        <p:txBody>
          <a:bodyPr wrap="none" lIns="0" tIns="0" rIns="0" bIns="0" rtlCol="0" anchor="t">
            <a:normAutofit/>
          </a:bodyPr>
          <a:lstStyle/>
          <a:p>
            <a:pPr algn="l" indent="0" marL="0">
              <a:lnSpc>
                <a:spcPts val="1820"/>
              </a:lnSpc>
              <a:buNone/>
            </a:pPr>
            <a:r>
              <a:rPr lang="en-US" sz="1300" dirty="0">
                <a:solidFill>
                  <a:srgbClr val="E8EDF5"/>
                </a:solidFill>
                <a:latin typeface="JetBrains Mono" pitchFamily="49" charset="0"/>
                <a:ea typeface="JetBrains Mono" pitchFamily="49" charset="-122"/>
                <a:cs typeface="JetBrains Mono" pitchFamily="49" charset="-120"/>
              </a:rPr>
              <a:t>  copy any leftover items of L or R into A</a:t>
            </a:r>
            <a:endParaRPr lang="en-US" sz="1300" dirty="0"/>
          </a:p>
        </p:txBody>
      </p:sp>
      <p:sp>
        <p:nvSpPr>
          <p:cNvPr id="17" name="Text 15"/>
          <p:cNvSpPr/>
          <p:nvPr/>
        </p:nvSpPr>
        <p:spPr>
          <a:xfrm>
            <a:off x="7848600" y="1620509"/>
            <a:ext cx="3636518"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994A"/>
                </a:solidFill>
                <a:latin typeface="DM Sans" pitchFamily="34" charset="0"/>
                <a:ea typeface="DM Sans" pitchFamily="34" charset="-122"/>
                <a:cs typeface="DM Sans" pitchFamily="34" charset="-120"/>
              </a:rPr>
              <a:t>mid</a:t>
            </a:r>
            <a:endParaRPr lang="en-US" sz="2200" dirty="0"/>
          </a:p>
        </p:txBody>
      </p:sp>
      <p:sp>
        <p:nvSpPr>
          <p:cNvPr id="18" name="Text 16"/>
          <p:cNvSpPr/>
          <p:nvPr/>
        </p:nvSpPr>
        <p:spPr>
          <a:xfrm>
            <a:off x="7848600" y="2006538"/>
            <a:ext cx="3636518"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DM Sans" pitchFamily="34" charset="0"/>
                <a:ea typeface="DM Sans" pitchFamily="34" charset="-122"/>
                <a:cs typeface="DM Sans" pitchFamily="34" charset="-120"/>
              </a:rPr>
              <a:t>Splits the range into two halves.</a:t>
            </a:r>
            <a:endParaRPr lang="en-US" sz="1600" dirty="0"/>
          </a:p>
        </p:txBody>
      </p:sp>
      <p:sp>
        <p:nvSpPr>
          <p:cNvPr id="19" name="Text 17"/>
          <p:cNvSpPr/>
          <p:nvPr/>
        </p:nvSpPr>
        <p:spPr>
          <a:xfrm>
            <a:off x="7848600" y="2443361"/>
            <a:ext cx="3636518"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994A"/>
                </a:solidFill>
                <a:latin typeface="DM Sans" pitchFamily="34" charset="0"/>
                <a:ea typeface="DM Sans" pitchFamily="34" charset="-122"/>
                <a:cs typeface="DM Sans" pitchFamily="34" charset="-120"/>
              </a:rPr>
              <a:t>MERGE</a:t>
            </a:r>
            <a:endParaRPr lang="en-US" sz="2200" dirty="0"/>
          </a:p>
        </p:txBody>
      </p:sp>
      <p:sp>
        <p:nvSpPr>
          <p:cNvPr id="20" name="Text 18"/>
          <p:cNvSpPr/>
          <p:nvPr/>
        </p:nvSpPr>
        <p:spPr>
          <a:xfrm>
            <a:off x="7848600" y="2829390"/>
            <a:ext cx="3636518"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DM Sans" pitchFamily="34" charset="0"/>
                <a:ea typeface="DM Sans" pitchFamily="34" charset="-122"/>
                <a:cs typeface="DM Sans" pitchFamily="34" charset="-120"/>
              </a:rPr>
              <a:t>Copies the halves, then takes the smaller front item each time.</a:t>
            </a:r>
            <a:endParaRPr lang="en-US" sz="1600" dirty="0"/>
          </a:p>
        </p:txBody>
      </p:sp>
      <p:sp>
        <p:nvSpPr>
          <p:cNvPr id="21" name="Text 19"/>
          <p:cNvSpPr/>
          <p:nvPr/>
        </p:nvSpPr>
        <p:spPr>
          <a:xfrm>
            <a:off x="7848600" y="3550642"/>
            <a:ext cx="3636518"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994A"/>
                </a:solidFill>
                <a:latin typeface="DM Sans" pitchFamily="34" charset="0"/>
                <a:ea typeface="DM Sans" pitchFamily="34" charset="-122"/>
                <a:cs typeface="DM Sans" pitchFamily="34" charset="-120"/>
              </a:rPr>
              <a:t>≤ test</a:t>
            </a:r>
            <a:endParaRPr lang="en-US" sz="2200" dirty="0"/>
          </a:p>
        </p:txBody>
      </p:sp>
      <p:sp>
        <p:nvSpPr>
          <p:cNvPr id="22" name="Text 20"/>
          <p:cNvSpPr/>
          <p:nvPr/>
        </p:nvSpPr>
        <p:spPr>
          <a:xfrm>
            <a:off x="7848600" y="3936671"/>
            <a:ext cx="3636518"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DM Sans" pitchFamily="34" charset="0"/>
                <a:ea typeface="DM Sans" pitchFamily="34" charset="-122"/>
                <a:cs typeface="DM Sans" pitchFamily="34" charset="-120"/>
              </a:rPr>
              <a:t>Taking from the left on a tie keeps the sort stable.</a:t>
            </a:r>
            <a:endParaRPr lang="en-US" sz="160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8"/>
                </a:solidFill>
                <a:latin typeface="DM Sans" pitchFamily="34" charset="0"/>
                <a:ea typeface="DM Sans" pitchFamily="34" charset="-122"/>
                <a:cs typeface="DM Sans" pitchFamily="34" charset="-120"/>
              </a:rPr>
              <a:t>Generated using Claude · Merge Sort · DAA</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0C8"/>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1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DM Sans" pitchFamily="34" charset="0"/>
                <a:ea typeface="DM Sans" pitchFamily="34" charset="-122"/>
                <a:cs typeface="DM Sans" pitchFamily="34" charset="-120"/>
              </a:rPr>
              <a:t>Merge sort vs quick sort</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84009"/>
          <a:ext cx="10553700" cy="2476500"/>
        </p:xfrm>
        <a:graphic>
          <a:graphicData uri="http://schemas.openxmlformats.org/drawingml/2006/table">
            <a:tbl>
              <a:tblPr/>
              <a:tblGrid>
                <a:gridCol w="2110740"/>
                <a:gridCol w="4221480"/>
                <a:gridCol w="4221480"/>
              </a:tblGrid>
              <a:tr h="412750">
                <a:tc>
                  <a:txBody>
                    <a:bodyPr/>
                    <a:lstStyle/>
                    <a:p>
                      <a:pPr indent="0" marL="0">
                        <a:lnSpc>
                          <a:spcPts val="2100"/>
                        </a:lnSpc>
                        <a:buNone/>
                      </a:pPr>
                      <a:r>
                        <a:rPr lang="en-US" sz="1500" b="1" dirty="0">
                          <a:solidFill>
                            <a:srgbClr val="FBFBF8"/>
                          </a:solidFill>
                          <a:latin typeface="DM Sans" pitchFamily="34" charset="0"/>
                          <a:ea typeface="DM Sans" pitchFamily="34" charset="-122"/>
                          <a:cs typeface="DM Sans" pitchFamily="34" charset="-120"/>
                        </a:rPr>
                        <a:t>Aspect</a:t>
                      </a:r>
                      <a:endParaRPr lang="en-US" sz="1500" dirty="0">
                        <a:latin typeface="DM Sans" charset="0"/>
                        <a:ea typeface="DM Sans" charset="0"/>
                        <a:cs typeface="DM Sans" charset="0"/>
                      </a:endParaRPr>
                    </a:p>
                  </a:txBody>
                  <a:tcPr marL="66675" marR="66675" marT="66675" marB="66675" anchor="t">
                    <a:lnL w="12700" cap="flat" cmpd="sng" algn="ctr">
                      <a:solidFill>
                        <a:srgbClr val="BEC0C3"/>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100"/>
                        </a:lnSpc>
                        <a:buNone/>
                      </a:pPr>
                      <a:r>
                        <a:rPr lang="en-US" sz="1500" b="1" dirty="0">
                          <a:solidFill>
                            <a:srgbClr val="FBFBF8"/>
                          </a:solidFill>
                          <a:latin typeface="DM Sans" pitchFamily="34" charset="0"/>
                          <a:ea typeface="DM Sans" pitchFamily="34" charset="-122"/>
                          <a:cs typeface="DM Sans" pitchFamily="34" charset="-120"/>
                        </a:rPr>
                        <a:t>Merge sort</a:t>
                      </a:r>
                      <a:endParaRPr lang="en-US" sz="1500" dirty="0">
                        <a:latin typeface="DM Sans" charset="0"/>
                        <a:ea typeface="DM Sans" charset="0"/>
                        <a:cs typeface="DM Sans" charset="0"/>
                      </a:endParaRPr>
                    </a:p>
                  </a:txBody>
                  <a:tcPr marL="66675" marR="66675" marT="66675" marB="6667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100"/>
                        </a:lnSpc>
                        <a:buNone/>
                      </a:pPr>
                      <a:r>
                        <a:rPr lang="en-US" sz="1500" b="1" dirty="0">
                          <a:solidFill>
                            <a:srgbClr val="FBFBF8"/>
                          </a:solidFill>
                          <a:latin typeface="DM Sans" pitchFamily="34" charset="0"/>
                          <a:ea typeface="DM Sans" pitchFamily="34" charset="-122"/>
                          <a:cs typeface="DM Sans" pitchFamily="34" charset="-120"/>
                        </a:rPr>
                        <a:t>Quick sort</a:t>
                      </a:r>
                      <a:endParaRPr lang="en-US" sz="1500" dirty="0">
                        <a:latin typeface="DM Sans" charset="0"/>
                        <a:ea typeface="DM Sans" charset="0"/>
                        <a:cs typeface="DM Sans" charset="0"/>
                      </a:endParaRPr>
                    </a:p>
                  </a:txBody>
                  <a:tcPr marL="66675" marR="66675" marT="66675" marB="6667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1275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Strategy</a:t>
                      </a:r>
                      <a:endParaRPr lang="en-US" sz="1500" dirty="0">
                        <a:latin typeface="DM Sans" charset="0"/>
                        <a:ea typeface="DM Sans" charset="0"/>
                        <a:cs typeface="DM Sans" charset="0"/>
                      </a:endParaRPr>
                    </a:p>
                  </a:txBody>
                  <a:tcPr marL="66675" marR="66675" marT="66675" marB="6667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Split at the middle, merge after</a:t>
                      </a:r>
                      <a:endParaRPr lang="en-US" sz="1500" dirty="0">
                        <a:latin typeface="DM Sans" charset="0"/>
                        <a:ea typeface="DM Sans" charset="0"/>
                        <a:cs typeface="DM Sans" charset="0"/>
                      </a:endParaRPr>
                    </a:p>
                  </a:txBody>
                  <a:tcPr marL="66675" marR="66675" marT="66675" marB="6667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Partition around a pivot, then recurse</a:t>
                      </a:r>
                      <a:endParaRPr lang="en-US" sz="1500" dirty="0">
                        <a:latin typeface="DM Sans" charset="0"/>
                        <a:ea typeface="DM Sans" charset="0"/>
                        <a:cs typeface="DM Sans" charset="0"/>
                      </a:endParaRPr>
                    </a:p>
                  </a:txBody>
                  <a:tcPr marL="66675" marR="66675" marT="66675" marB="6667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Worst case</a:t>
                      </a:r>
                      <a:endParaRPr lang="en-US" sz="1500" dirty="0">
                        <a:latin typeface="DM Sans" charset="0"/>
                        <a:ea typeface="DM Sans" charset="0"/>
                        <a:cs typeface="DM Sans" charset="0"/>
                      </a:endParaRPr>
                    </a:p>
                  </a:txBody>
                  <a:tcPr marL="66675" marR="66675" marT="66675" marB="66675" anchor="t">
                    <a:lnL w="12700" cap="flat" cmpd="sng" algn="ctr">
                      <a:solidFill>
                        <a:srgbClr val="BEC0C3"/>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8"/>
                    </a:solidFill>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O(n log n)</a:t>
                      </a:r>
                      <a:endParaRPr lang="en-US" sz="1500" dirty="0">
                        <a:latin typeface="DM Sans" charset="0"/>
                        <a:ea typeface="DM Sans" charset="0"/>
                        <a:cs typeface="DM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8"/>
                    </a:solidFill>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O(n²)</a:t>
                      </a:r>
                      <a:endParaRPr lang="en-US" sz="1500" dirty="0">
                        <a:latin typeface="DM Sans" charset="0"/>
                        <a:ea typeface="DM Sans" charset="0"/>
                        <a:cs typeface="DM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8"/>
                    </a:solidFill>
                  </a:tcPr>
                </a:tc>
              </a:tr>
              <a:tr h="41275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Extra space</a:t>
                      </a:r>
                      <a:endParaRPr lang="en-US" sz="1500" dirty="0">
                        <a:latin typeface="DM Sans" charset="0"/>
                        <a:ea typeface="DM Sans" charset="0"/>
                        <a:cs typeface="DM Sans" charset="0"/>
                      </a:endParaRPr>
                    </a:p>
                  </a:txBody>
                  <a:tcPr marL="66675" marR="66675" marT="66675" marB="6667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O(n)</a:t>
                      </a:r>
                      <a:endParaRPr lang="en-US" sz="1500" dirty="0">
                        <a:latin typeface="DM Sans" charset="0"/>
                        <a:ea typeface="DM Sans" charset="0"/>
                        <a:cs typeface="DM Sans" charset="0"/>
                      </a:endParaRPr>
                    </a:p>
                  </a:txBody>
                  <a:tcPr marL="66675" marR="66675" marT="66675" marB="6667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O(log n)</a:t>
                      </a:r>
                      <a:endParaRPr lang="en-US" sz="1500" dirty="0">
                        <a:latin typeface="DM Sans" charset="0"/>
                        <a:ea typeface="DM Sans" charset="0"/>
                        <a:cs typeface="DM Sans" charset="0"/>
                      </a:endParaRPr>
                    </a:p>
                  </a:txBody>
                  <a:tcPr marL="66675" marR="66675" marT="66675" marB="6667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Stable</a:t>
                      </a:r>
                      <a:endParaRPr lang="en-US" sz="1500" dirty="0">
                        <a:latin typeface="DM Sans" charset="0"/>
                        <a:ea typeface="DM Sans" charset="0"/>
                        <a:cs typeface="DM Sans" charset="0"/>
                      </a:endParaRPr>
                    </a:p>
                  </a:txBody>
                  <a:tcPr marL="66675" marR="66675" marT="66675" marB="66675" anchor="t">
                    <a:lnL w="12700" cap="flat" cmpd="sng" algn="ctr">
                      <a:solidFill>
                        <a:srgbClr val="BEC0C3"/>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8"/>
                    </a:solidFill>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Yes</a:t>
                      </a:r>
                      <a:endParaRPr lang="en-US" sz="1500" dirty="0">
                        <a:latin typeface="DM Sans" charset="0"/>
                        <a:ea typeface="DM Sans" charset="0"/>
                        <a:cs typeface="DM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8"/>
                    </a:solidFill>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No</a:t>
                      </a:r>
                      <a:endParaRPr lang="en-US" sz="1500" dirty="0">
                        <a:latin typeface="DM Sans" charset="0"/>
                        <a:ea typeface="DM Sans" charset="0"/>
                        <a:cs typeface="DM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8"/>
                    </a:solidFill>
                  </a:tcPr>
                </a:tc>
              </a:tr>
              <a:tr h="41275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Best for</a:t>
                      </a:r>
                      <a:endParaRPr lang="en-US" sz="1500" dirty="0">
                        <a:latin typeface="DM Sans" charset="0"/>
                        <a:ea typeface="DM Sans" charset="0"/>
                        <a:cs typeface="DM Sans" charset="0"/>
                      </a:endParaRPr>
                    </a:p>
                  </a:txBody>
                  <a:tcPr marL="66675" marR="66675" marT="66675" marB="6667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Linked lists and external sorting</a:t>
                      </a:r>
                      <a:endParaRPr lang="en-US" sz="1500" dirty="0">
                        <a:latin typeface="DM Sans" charset="0"/>
                        <a:ea typeface="DM Sans" charset="0"/>
                        <a:cs typeface="DM Sans" charset="0"/>
                      </a:endParaRPr>
                    </a:p>
                  </a:txBody>
                  <a:tcPr marL="66675" marR="66675" marT="66675" marB="6667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In-memory arrays</a:t>
                      </a:r>
                      <a:endParaRPr lang="en-US" sz="1500" dirty="0">
                        <a:latin typeface="DM Sans" charset="0"/>
                        <a:ea typeface="DM Sans" charset="0"/>
                        <a:cs typeface="DM Sans" charset="0"/>
                      </a:endParaRPr>
                    </a:p>
                  </a:txBody>
                  <a:tcPr marL="66675" marR="66675" marT="66675" marB="6667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r>
            </a:tbl>
          </a:graphicData>
        </a:graphic>
      </p:graphicFrame>
      <p:sp>
        <p:nvSpPr>
          <p:cNvPr id="4" name="Text 1"/>
          <p:cNvSpPr/>
          <p:nvPr/>
        </p:nvSpPr>
        <p:spPr>
          <a:xfrm>
            <a:off x="812800" y="4516109"/>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Both are divide and conquer, and both average O(n log n).</a:t>
            </a:r>
            <a:endParaRPr lang="en-US" sz="1600" dirty="0"/>
          </a:p>
        </p:txBody>
      </p:sp>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Generated using Claude · Merge Sort · DAA</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BFBF8"/>
                </a:solidFill>
                <a:latin typeface="DM Sans" pitchFamily="34" charset="0"/>
                <a:ea typeface="DM Sans" pitchFamily="34" charset="-122"/>
                <a:cs typeface="DM Sans" pitchFamily="34" charset="-120"/>
              </a:rPr>
              <a:t>Key takeaways</a:t>
            </a:r>
            <a:endParaRPr lang="en-US" sz="3600" dirty="0"/>
          </a:p>
        </p:txBody>
      </p:sp>
      <p:sp>
        <p:nvSpPr>
          <p:cNvPr id="3" name="Text 1"/>
          <p:cNvSpPr/>
          <p:nvPr/>
        </p:nvSpPr>
        <p:spPr>
          <a:xfrm>
            <a:off x="842010" y="1671309"/>
            <a:ext cx="10846562" cy="1447800"/>
          </a:xfrm>
          <a:prstGeom prst="rect">
            <a:avLst/>
          </a:prstGeom>
          <a:noFill/>
          <a:ln/>
        </p:spPr>
        <p:txBody>
          <a:bodyPr wrap="square" lIns="0" tIns="0" rIns="0" bIns="0" rtlCol="0" anchor="t">
            <a:normAutofit/>
          </a:bodyPr>
          <a:lstStyle/>
          <a:p>
            <a:pPr algn="l" marL="224790" indent="-224790">
              <a:lnSpc>
                <a:spcPts val="2800"/>
              </a:lnSpc>
              <a:buSzPct val="100000"/>
              <a:buChar char="•"/>
            </a:pPr>
            <a:r>
              <a:rPr lang="en-US" sz="2000" dirty="0">
                <a:solidFill>
                  <a:srgbClr val="E8EDF5"/>
                </a:solidFill>
                <a:latin typeface="DM Sans" pitchFamily="34" charset="0"/>
                <a:ea typeface="DM Sans" pitchFamily="34" charset="-122"/>
                <a:cs typeface="DM Sans" pitchFamily="34" charset="-120"/>
              </a:rPr>
              <a:t>Merge sort splits the array in half, sorts each half, then merges them.</a:t>
            </a:r>
            <a:endParaRPr lang="en-US" sz="2000" dirty="0"/>
          </a:p>
          <a:p>
            <a:pPr algn="l" marL="224790" indent="-224790">
              <a:lnSpc>
                <a:spcPts val="2800"/>
              </a:lnSpc>
              <a:buSzPct val="100000"/>
              <a:buChar char="•"/>
            </a:pPr>
            <a:r>
              <a:rPr lang="en-US" sz="2000" dirty="0">
                <a:solidFill>
                  <a:srgbClr val="E8EDF5"/>
                </a:solidFill>
                <a:latin typeface="DM Sans" pitchFamily="34" charset="0"/>
                <a:ea typeface="DM Sans" pitchFamily="34" charset="-122"/>
                <a:cs typeface="DM Sans" pitchFamily="34" charset="-120"/>
              </a:rPr>
              <a:t>Merging two sorted halves takes O(n) time.</a:t>
            </a:r>
            <a:endParaRPr lang="en-US" sz="2000" dirty="0"/>
          </a:p>
          <a:p>
            <a:pPr algn="l" marL="224790" indent="-224790">
              <a:lnSpc>
                <a:spcPts val="2800"/>
              </a:lnSpc>
              <a:buSzPct val="100000"/>
              <a:buChar char="•"/>
            </a:pPr>
            <a:r>
              <a:rPr lang="en-US" sz="2000" dirty="0">
                <a:solidFill>
                  <a:srgbClr val="E8EDF5"/>
                </a:solidFill>
                <a:latin typeface="DM Sans" pitchFamily="34" charset="0"/>
                <a:ea typeface="DM Sans" pitchFamily="34" charset="-122"/>
                <a:cs typeface="DM Sans" pitchFamily="34" charset="-120"/>
              </a:rPr>
              <a:t>T(n) = 2T(n/2) + O(n) gives O(n log n) in every case.</a:t>
            </a:r>
            <a:endParaRPr lang="en-US" sz="2000" dirty="0"/>
          </a:p>
          <a:p>
            <a:pPr algn="l" marL="224790" indent="-224790">
              <a:lnSpc>
                <a:spcPts val="2800"/>
              </a:lnSpc>
              <a:buSzPct val="100000"/>
              <a:buChar char="•"/>
            </a:pPr>
            <a:r>
              <a:rPr lang="en-US" sz="2000" dirty="0">
                <a:solidFill>
                  <a:srgbClr val="E8EDF5"/>
                </a:solidFill>
                <a:latin typeface="DM Sans" pitchFamily="34" charset="0"/>
                <a:ea typeface="DM Sans" pitchFamily="34" charset="-122"/>
                <a:cs typeface="DM Sans" pitchFamily="34" charset="-120"/>
              </a:rPr>
              <a:t>It needs O(n) extra space and is stable.</a:t>
            </a:r>
            <a:endParaRPr lang="en-US" sz="2000" dirty="0"/>
          </a:p>
        </p:txBody>
      </p:sp>
      <p:sp>
        <p:nvSpPr>
          <p:cNvPr id="4" name="Text 2"/>
          <p:cNvSpPr/>
          <p:nvPr/>
        </p:nvSpPr>
        <p:spPr>
          <a:xfrm>
            <a:off x="812800" y="6024897"/>
            <a:ext cx="2667000" cy="426707"/>
          </a:xfrm>
          <a:prstGeom prst="roundRect">
            <a:avLst>
              <a:gd name="adj" fmla="val 50000"/>
            </a:avLst>
          </a:prstGeom>
          <a:solidFill>
            <a:srgbClr val="F2994A"/>
          </a:solidFill>
          <a:ln/>
        </p:spPr>
        <p:txBody>
          <a:bodyPr wrap="square" lIns="106802" tIns="26411" rIns="106802" bIns="1011" rtlCol="0" anchor="t">
            <a:normAutofit/>
          </a:bodyPr>
          <a:lstStyle/>
          <a:p>
            <a:pPr algn="ctr" indent="0" marL="0">
              <a:lnSpc>
                <a:spcPts val="1960"/>
              </a:lnSpc>
              <a:buNone/>
            </a:pPr>
            <a:r>
              <a:rPr lang="en-US" sz="1400" b="1" dirty="0">
                <a:solidFill>
                  <a:srgbClr val="14213D"/>
                </a:solidFill>
                <a:latin typeface="DM Sans" pitchFamily="34" charset="0"/>
                <a:ea typeface="DM Sans" pitchFamily="34" charset="-122"/>
                <a:cs typeface="DM Sans" pitchFamily="34" charset="-120"/>
              </a:rPr>
              <a:t>Generated using Claude</a:t>
            </a:r>
            <a:endParaRPr lang="en-US" sz="1400" dirty="0"/>
          </a:p>
        </p:txBody>
      </p:sp>
      <p:sp>
        <p:nvSpPr>
          <p:cNvPr id="5"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0C8"/>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theme/theme1.xml><?xml version="1.0" encoding="utf-8"?>
<a:theme xmlns:a="http://schemas.openxmlformats.org/drawingml/2006/main" name="Merge Sort">
  <a:themeElements>
    <a:clrScheme name="Merge Sort">
      <a:dk1>
        <a:srgbClr val="14213D"/>
      </a:dk1>
      <a:lt1>
        <a:srgbClr val="EEF1F4"/>
      </a:lt1>
      <a:dk2>
        <a:srgbClr val="4B556B"/>
      </a:dk2>
      <a:lt2>
        <a:srgbClr val="D8DCE2"/>
      </a:lt2>
      <a:accent1>
        <a:srgbClr val="F2994A"/>
      </a:accent1>
      <a:accent2>
        <a:srgbClr val="FCE3CC"/>
      </a:accent2>
      <a:accent3>
        <a:srgbClr val="B4530F"/>
      </a:accent3>
      <a:accent4>
        <a:srgbClr val="9FB0C8"/>
      </a:accent4>
      <a:accent5>
        <a:srgbClr val="4A5568"/>
      </a:accent5>
      <a:accent6>
        <a:srgbClr val="6A7179"/>
      </a:accent6>
      <a:hlink>
        <a:srgbClr val="0563C1"/>
      </a:hlink>
      <a:folHlink>
        <a:srgbClr val="954F72"/>
      </a:folHlink>
    </a:clrScheme>
    <a:fontScheme name="Merge Sort">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Merge Sort</dc:title>
  <dc:subject/>
  <dc:creator/>
  <cp:lastModifiedBy/>
  <cp:revision>1</cp:revision>
  <dcterms:created xsi:type="dcterms:W3CDTF">2026-10-19T08:36:56Z</dcterms:created>
  <dcterms:modified xsi:type="dcterms:W3CDTF">2026-10-19T08:36:56Z</dcterms:modified>
</cp:coreProperties>
</file>